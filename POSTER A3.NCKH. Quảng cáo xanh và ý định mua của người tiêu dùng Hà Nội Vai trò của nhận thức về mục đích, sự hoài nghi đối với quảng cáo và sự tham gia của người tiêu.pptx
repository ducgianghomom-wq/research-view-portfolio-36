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72" r:id="rId4"/>
  </p:sldMasterIdLst>
  <p:sldIdLst>
    <p:sldId id="261" r:id="rId5"/>
    <p:sldId id="262" r:id="rId6"/>
  </p:sldIdLst>
  <p:sldSz cx="9601200" cy="12801600" type="A3"/>
  <p:notesSz cx="6858000" cy="9144000"/>
  <p:embeddedFontLst>
    <p:embeddedFont>
      <p:font typeface="#9Slide01 Tieu de ngan" panose="020B0604020202020204" charset="0"/>
      <p:bold r:id="rId7"/>
    </p:embeddedFont>
    <p:embeddedFont>
      <p:font typeface="#9Slide02 Tieu de rat dai 02" panose="020B0604020202020204" charset="0"/>
      <p:bold r:id="rId8"/>
    </p:embeddedFont>
    <p:embeddedFont>
      <p:font typeface="Calibri Light" panose="020F0302020204030204" pitchFamily="34" charset="0"/>
      <p:regular r:id="rId9"/>
      <p:italic r:id="rId10"/>
    </p:embeddedFon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#9Slide02 Noi dung rat dai" panose="020B0604020202020204" charset="0"/>
      <p:regular r:id="rId15"/>
    </p:embeddedFont>
  </p:embeddedFontLst>
  <p:defaultTextStyle>
    <a:defPPr>
      <a:defRPr lang="en-US"/>
    </a:defPPr>
    <a:lvl1pPr marL="0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1pPr>
    <a:lvl2pPr marL="537667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2pPr>
    <a:lvl3pPr marL="1075334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3pPr>
    <a:lvl4pPr marL="1613002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4pPr>
    <a:lvl5pPr marL="2150669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5pPr>
    <a:lvl6pPr marL="2688336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6pPr>
    <a:lvl7pPr marL="3226003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7pPr>
    <a:lvl8pPr marL="3763670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8pPr>
    <a:lvl9pPr marL="4301338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E682"/>
    <a:srgbClr val="70AD47"/>
    <a:srgbClr val="006600"/>
    <a:srgbClr val="75A84B"/>
    <a:srgbClr val="5D7A42"/>
    <a:srgbClr val="71A528"/>
    <a:srgbClr val="FFFF00"/>
    <a:srgbClr val="668C8C"/>
    <a:srgbClr val="A6BDBD"/>
    <a:srgbClr val="CBE3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498988-1837-4B2B-B5FC-A7E25950DC15}" v="5719" dt="2026-05-13T08:12:13.561"/>
    <p1510:client id="{5DC1A39B-3355-4A1D-A649-239A9B02658C}" v="12" dt="2026-05-13T14:22:43.782"/>
    <p1510:client id="{F84987B4-ECF5-4DFE-BF22-4361A044C309}" v="11042" dt="2026-05-13T04:24:39.626"/>
    <p1510:client id="{FA96C56F-9C28-4561-93BC-6954C84983BB}" v="60" dt="2026-05-13T03:34:23.3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>
        <p:scale>
          <a:sx n="100" d="100"/>
          <a:sy n="100" d="100"/>
        </p:scale>
        <p:origin x="802" y="-42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5.fntdata"/><Relationship Id="rId5" Type="http://schemas.openxmlformats.org/officeDocument/2006/relationships/slide" Target="slides/slide1.xml"/><Relationship Id="rId15" Type="http://schemas.openxmlformats.org/officeDocument/2006/relationships/font" Target="fonts/font9.fntdata"/><Relationship Id="rId10" Type="http://schemas.openxmlformats.org/officeDocument/2006/relationships/font" Target="fonts/font4.fntdata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F8924-17FD-4D05-99EF-788B54795DA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B46E8-6270-411A-9875-84F3F5534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810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F8924-17FD-4D05-99EF-788B54795DA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B46E8-6270-411A-9875-84F3F5534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330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/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F8924-17FD-4D05-99EF-788B54795DA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B46E8-6270-411A-9875-84F3F5534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349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F8924-17FD-4D05-99EF-788B54795DA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B46E8-6270-411A-9875-84F3F5534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051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F8924-17FD-4D05-99EF-788B54795DA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B46E8-6270-411A-9875-84F3F5534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313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F8924-17FD-4D05-99EF-788B54795DA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B46E8-6270-411A-9875-84F3F5534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80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F8924-17FD-4D05-99EF-788B54795DA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B46E8-6270-411A-9875-84F3F5534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309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F8924-17FD-4D05-99EF-788B54795DA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B46E8-6270-411A-9875-84F3F5534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758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F8924-17FD-4D05-99EF-788B54795DA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B46E8-6270-411A-9875-84F3F5534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811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F8924-17FD-4D05-99EF-788B54795DA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B46E8-6270-411A-9875-84F3F5534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272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F8924-17FD-4D05-99EF-788B54795DA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B46E8-6270-411A-9875-84F3F5534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073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9Slide.vn - 2019">
            <a:extLst>
              <a:ext uri="{FF2B5EF4-FFF2-40B4-BE49-F238E27FC236}">
                <a16:creationId xmlns:a16="http://schemas.microsoft.com/office/drawing/2014/main" id="{2F8D3CD9-99F7-3471-28F5-174026AD7B02}"/>
              </a:ext>
            </a:extLst>
          </p:cNvPr>
          <p:cNvSpPr txBox="1"/>
          <p:nvPr userDrawn="1"/>
        </p:nvSpPr>
        <p:spPr>
          <a:xfrm>
            <a:off x="0" y="-1623131"/>
            <a:ext cx="9601200" cy="4801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2520">
                <a:solidFill>
                  <a:srgbClr val="CFCFCF"/>
                </a:solidFill>
              </a:rPr>
              <a:t>www.9slide.vn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F8924-17FD-4D05-99EF-788B54795DA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FB46E8-6270-411A-9875-84F3F5534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32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microsoft.com/office/2007/relationships/hdphoto" Target="../media/hdphoto5.wdp"/><Relationship Id="rId18" Type="http://schemas.openxmlformats.org/officeDocument/2006/relationships/image" Target="../media/image10.jpeg"/><Relationship Id="rId26" Type="http://schemas.openxmlformats.org/officeDocument/2006/relationships/image" Target="../media/image18.png"/><Relationship Id="rId39" Type="http://schemas.openxmlformats.org/officeDocument/2006/relationships/image" Target="../media/image30.png"/><Relationship Id="rId3" Type="http://schemas.openxmlformats.org/officeDocument/2006/relationships/image" Target="../media/image2.png"/><Relationship Id="rId21" Type="http://schemas.openxmlformats.org/officeDocument/2006/relationships/image" Target="../media/image13.png"/><Relationship Id="rId34" Type="http://schemas.openxmlformats.org/officeDocument/2006/relationships/image" Target="../media/image26.png"/><Relationship Id="rId42" Type="http://schemas.openxmlformats.org/officeDocument/2006/relationships/image" Target="../media/image33.png"/><Relationship Id="rId7" Type="http://schemas.microsoft.com/office/2007/relationships/hdphoto" Target="../media/hdphoto2.wdp"/><Relationship Id="rId12" Type="http://schemas.openxmlformats.org/officeDocument/2006/relationships/image" Target="../media/image7.png"/><Relationship Id="rId17" Type="http://schemas.microsoft.com/office/2007/relationships/hdphoto" Target="../media/hdphoto7.wdp"/><Relationship Id="rId25" Type="http://schemas.openxmlformats.org/officeDocument/2006/relationships/image" Target="../media/image17.png"/><Relationship Id="rId33" Type="http://schemas.openxmlformats.org/officeDocument/2006/relationships/image" Target="../media/image25.png"/><Relationship Id="rId38" Type="http://schemas.openxmlformats.org/officeDocument/2006/relationships/image" Target="../media/image30.svg"/><Relationship Id="rId2" Type="http://schemas.openxmlformats.org/officeDocument/2006/relationships/image" Target="../media/image1.jpeg"/><Relationship Id="rId16" Type="http://schemas.openxmlformats.org/officeDocument/2006/relationships/image" Target="../media/image9.png"/><Relationship Id="rId20" Type="http://schemas.openxmlformats.org/officeDocument/2006/relationships/image" Target="../media/image12.png"/><Relationship Id="rId29" Type="http://schemas.openxmlformats.org/officeDocument/2006/relationships/image" Target="../media/image21.png"/><Relationship Id="rId41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microsoft.com/office/2007/relationships/hdphoto" Target="../media/hdphoto4.wdp"/><Relationship Id="rId24" Type="http://schemas.openxmlformats.org/officeDocument/2006/relationships/image" Target="../media/image16.png"/><Relationship Id="rId32" Type="http://schemas.openxmlformats.org/officeDocument/2006/relationships/image" Target="../media/image24.png"/><Relationship Id="rId37" Type="http://schemas.openxmlformats.org/officeDocument/2006/relationships/image" Target="../media/image29.png"/><Relationship Id="rId40" Type="http://schemas.openxmlformats.org/officeDocument/2006/relationships/image" Target="../media/image31.png"/><Relationship Id="rId5" Type="http://schemas.microsoft.com/office/2007/relationships/hdphoto" Target="../media/hdphoto1.wdp"/><Relationship Id="rId15" Type="http://schemas.microsoft.com/office/2007/relationships/hdphoto" Target="../media/hdphoto6.wdp"/><Relationship Id="rId23" Type="http://schemas.openxmlformats.org/officeDocument/2006/relationships/image" Target="../media/image15.png"/><Relationship Id="rId28" Type="http://schemas.openxmlformats.org/officeDocument/2006/relationships/image" Target="../media/image20.png"/><Relationship Id="rId36" Type="http://schemas.openxmlformats.org/officeDocument/2006/relationships/image" Target="../media/image28.png"/><Relationship Id="rId10" Type="http://schemas.openxmlformats.org/officeDocument/2006/relationships/image" Target="../media/image6.png"/><Relationship Id="rId19" Type="http://schemas.openxmlformats.org/officeDocument/2006/relationships/image" Target="../media/image11.png"/><Relationship Id="rId31" Type="http://schemas.openxmlformats.org/officeDocument/2006/relationships/image" Target="../media/image23.png"/><Relationship Id="rId4" Type="http://schemas.openxmlformats.org/officeDocument/2006/relationships/image" Target="../media/image3.png"/><Relationship Id="rId9" Type="http://schemas.microsoft.com/office/2007/relationships/hdphoto" Target="../media/hdphoto3.wdp"/><Relationship Id="rId14" Type="http://schemas.openxmlformats.org/officeDocument/2006/relationships/image" Target="../media/image8.png"/><Relationship Id="rId22" Type="http://schemas.openxmlformats.org/officeDocument/2006/relationships/image" Target="../media/image14.png"/><Relationship Id="rId27" Type="http://schemas.openxmlformats.org/officeDocument/2006/relationships/image" Target="../media/image19.png"/><Relationship Id="rId30" Type="http://schemas.openxmlformats.org/officeDocument/2006/relationships/image" Target="../media/image22.png"/><Relationship Id="rId35" Type="http://schemas.openxmlformats.org/officeDocument/2006/relationships/image" Target="../media/image27.png"/><Relationship Id="rId43" Type="http://schemas.openxmlformats.org/officeDocument/2006/relationships/image" Target="../media/image3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601200" cy="12801600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A0104B2B-BEC1-74F1-A639-6FD55635DE9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lum bright="-8000"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22" y="-71120"/>
            <a:ext cx="9074556" cy="1287272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D9B0C4C4-6286-9795-27C5-074B3FAC7D86}"/>
              </a:ext>
            </a:extLst>
          </p:cNvPr>
          <p:cNvGrpSpPr/>
          <p:nvPr/>
        </p:nvGrpSpPr>
        <p:grpSpPr>
          <a:xfrm>
            <a:off x="3675305" y="3145882"/>
            <a:ext cx="5069115" cy="2076078"/>
            <a:chOff x="466717" y="5501191"/>
            <a:chExt cx="8814544" cy="3440194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82CE460-03E1-3FB5-CE75-11DF052E9247}"/>
                </a:ext>
              </a:extLst>
            </p:cNvPr>
            <p:cNvSpPr/>
            <p:nvPr/>
          </p:nvSpPr>
          <p:spPr>
            <a:xfrm>
              <a:off x="466717" y="5865791"/>
              <a:ext cx="1967696" cy="729205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accent6">
                  <a:lumMod val="40000"/>
                  <a:lumOff val="60000"/>
                </a:schemeClr>
              </a:solidFill>
            </a:ln>
            <a:effectLst>
              <a:outerShdw blurRad="215900" dist="101600" dir="2700000" algn="tl" rotWithShape="0">
                <a:prstClr val="black">
                  <a:alpha val="48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>
                <a:solidFill>
                  <a:srgbClr val="75A84B"/>
                </a:solidFill>
                <a:latin typeface="#9Slide02 Noi dung rat dai" panose="02000000000000000000" pitchFamily="2" charset="0"/>
                <a:ea typeface="#9Slide02 Noi dung rat dai" panose="02000000000000000000" pitchFamily="2" charset="0"/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381FDA05-AEDD-2F7E-B29B-57896162797B}"/>
                </a:ext>
              </a:extLst>
            </p:cNvPr>
            <p:cNvSpPr/>
            <p:nvPr/>
          </p:nvSpPr>
          <p:spPr>
            <a:xfrm>
              <a:off x="466717" y="7012774"/>
              <a:ext cx="1927510" cy="797339"/>
            </a:xfrm>
            <a:prstGeom prst="roundRect">
              <a:avLst/>
            </a:prstGeom>
            <a:solidFill>
              <a:srgbClr val="CDE2F5"/>
            </a:solidFill>
            <a:ln w="12700">
              <a:solidFill>
                <a:srgbClr val="E0F4F7"/>
              </a:solidFill>
            </a:ln>
            <a:effectLst>
              <a:outerShdw blurRad="215900" dist="101600" dir="2700000" algn="tl" rotWithShape="0">
                <a:prstClr val="black">
                  <a:alpha val="48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>
                <a:solidFill>
                  <a:sysClr val="windowText" lastClr="000000"/>
                </a:solidFill>
                <a:latin typeface="#9Slide02 Noi dung rat dai" panose="02000000000000000000" pitchFamily="2" charset="0"/>
                <a:ea typeface="#9Slide02 Noi dung rat dai" panose="02000000000000000000" pitchFamily="2" charset="0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8E5F11FE-019C-1C95-7093-CE8BF7E4BDED}"/>
                </a:ext>
              </a:extLst>
            </p:cNvPr>
            <p:cNvSpPr/>
            <p:nvPr/>
          </p:nvSpPr>
          <p:spPr>
            <a:xfrm>
              <a:off x="466717" y="8144046"/>
              <a:ext cx="1967696" cy="797339"/>
            </a:xfrm>
            <a:prstGeom prst="roundRect">
              <a:avLst/>
            </a:prstGeom>
            <a:solidFill>
              <a:srgbClr val="E4E9EC"/>
            </a:solidFill>
            <a:ln w="12700">
              <a:solidFill>
                <a:srgbClr val="D9DDE1"/>
              </a:solidFill>
            </a:ln>
            <a:effectLst>
              <a:outerShdw blurRad="215900" dist="101600" dir="2700000" algn="tl" rotWithShape="0">
                <a:prstClr val="black">
                  <a:alpha val="48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>
                <a:solidFill>
                  <a:sysClr val="windowText" lastClr="000000"/>
                </a:solidFill>
                <a:latin typeface="#9Slide02 Noi dung rat dai" panose="02000000000000000000" pitchFamily="2" charset="0"/>
                <a:ea typeface="#9Slide02 Noi dung rat dai" panose="02000000000000000000" pitchFamily="2" charset="0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17D7ED9D-7913-65CE-444E-F760AB9352D5}"/>
                </a:ext>
              </a:extLst>
            </p:cNvPr>
            <p:cNvSpPr/>
            <p:nvPr/>
          </p:nvSpPr>
          <p:spPr>
            <a:xfrm>
              <a:off x="3969959" y="6564496"/>
              <a:ext cx="2504581" cy="820147"/>
            </a:xfrm>
            <a:prstGeom prst="roundRect">
              <a:avLst/>
            </a:prstGeom>
            <a:solidFill>
              <a:srgbClr val="DEEBF4"/>
            </a:solidFill>
            <a:ln w="12700">
              <a:solidFill>
                <a:srgbClr val="E9F7FC"/>
              </a:solidFill>
            </a:ln>
            <a:effectLst>
              <a:outerShdw blurRad="215900" dist="101600" dir="2700000" algn="tl" rotWithShape="0">
                <a:prstClr val="black">
                  <a:alpha val="48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>
                <a:solidFill>
                  <a:sysClr val="windowText" lastClr="000000"/>
                </a:solidFill>
                <a:latin typeface="#9Slide02 Noi dung rat dai" panose="02000000000000000000" pitchFamily="2" charset="0"/>
                <a:ea typeface="#9Slide02 Noi dung rat dai" panose="02000000000000000000" pitchFamily="2" charset="0"/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DC4CFB7E-9E34-0CF0-A17A-18EB911BFC60}"/>
                </a:ext>
              </a:extLst>
            </p:cNvPr>
            <p:cNvSpPr/>
            <p:nvPr/>
          </p:nvSpPr>
          <p:spPr>
            <a:xfrm>
              <a:off x="6089903" y="5501191"/>
              <a:ext cx="1998194" cy="729203"/>
            </a:xfrm>
            <a:prstGeom prst="roundRect">
              <a:avLst/>
            </a:prstGeom>
            <a:solidFill>
              <a:srgbClr val="D8D0E3"/>
            </a:solidFill>
            <a:ln w="12700">
              <a:solidFill>
                <a:srgbClr val="F7F2FC"/>
              </a:solidFill>
            </a:ln>
            <a:effectLst>
              <a:outerShdw blurRad="215900" dist="101600" dir="2700000" algn="tl" rotWithShape="0">
                <a:prstClr val="black">
                  <a:alpha val="48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>
                <a:solidFill>
                  <a:sysClr val="windowText" lastClr="000000"/>
                </a:solidFill>
                <a:latin typeface="#9Slide02 Noi dung rat dai" panose="02000000000000000000" pitchFamily="2" charset="0"/>
                <a:ea typeface="#9Slide02 Noi dung rat dai" panose="02000000000000000000" pitchFamily="2" charset="0"/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9DDF012D-D312-0669-B645-170105C6F80A}"/>
                </a:ext>
              </a:extLst>
            </p:cNvPr>
            <p:cNvSpPr/>
            <p:nvPr/>
          </p:nvSpPr>
          <p:spPr>
            <a:xfrm>
              <a:off x="7440465" y="6957207"/>
              <a:ext cx="1755261" cy="729201"/>
            </a:xfrm>
            <a:prstGeom prst="roundRect">
              <a:avLst/>
            </a:prstGeom>
            <a:solidFill>
              <a:srgbClr val="C2DBBE"/>
            </a:solidFill>
            <a:ln w="12700">
              <a:solidFill>
                <a:schemeClr val="accent6">
                  <a:lumMod val="75000"/>
                </a:schemeClr>
              </a:solidFill>
            </a:ln>
            <a:effectLst>
              <a:outerShdw blurRad="215900" dist="101600" dir="2700000" algn="tl" rotWithShape="0">
                <a:prstClr val="black">
                  <a:alpha val="48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>
                <a:solidFill>
                  <a:sysClr val="windowText" lastClr="000000"/>
                </a:solidFill>
                <a:latin typeface="#9Slide02 Noi dung rat dai" panose="02000000000000000000" pitchFamily="2" charset="0"/>
                <a:ea typeface="#9Slide02 Noi dung rat dai" panose="02000000000000000000" pitchFamily="2" charset="0"/>
              </a:endParaRP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E04513E7-10DD-6C33-1CE2-C84CA9235A3D}"/>
                </a:ext>
              </a:extLst>
            </p:cNvPr>
            <p:cNvSpPr/>
            <p:nvPr/>
          </p:nvSpPr>
          <p:spPr>
            <a:xfrm>
              <a:off x="3993974" y="7859566"/>
              <a:ext cx="2480566" cy="698068"/>
            </a:xfrm>
            <a:prstGeom prst="roundRect">
              <a:avLst/>
            </a:prstGeom>
            <a:solidFill>
              <a:srgbClr val="DEEBF4"/>
            </a:solidFill>
            <a:ln w="12700">
              <a:solidFill>
                <a:srgbClr val="E9F7FC"/>
              </a:solidFill>
            </a:ln>
            <a:effectLst>
              <a:outerShdw blurRad="215900" dist="101600" dir="2700000" algn="tl" rotWithShape="0">
                <a:prstClr val="black">
                  <a:alpha val="48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>
                <a:solidFill>
                  <a:sysClr val="windowText" lastClr="000000"/>
                </a:solidFill>
                <a:latin typeface="#9Slide02 Noi dung rat dai" panose="02000000000000000000" pitchFamily="2" charset="0"/>
                <a:ea typeface="#9Slide02 Noi dung rat dai" panose="02000000000000000000" pitchFamily="2" charset="0"/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DE9AD34-F4E8-C66F-7178-DB9E0BC8B7DC}"/>
                </a:ext>
              </a:extLst>
            </p:cNvPr>
            <p:cNvCxnSpPr>
              <a:cxnSpLocks/>
            </p:cNvCxnSpPr>
            <p:nvPr/>
          </p:nvCxnSpPr>
          <p:spPr>
            <a:xfrm>
              <a:off x="2451017" y="6285913"/>
              <a:ext cx="1517846" cy="579286"/>
            </a:xfrm>
            <a:prstGeom prst="straightConnector1">
              <a:avLst/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EF9DC1A2-9E5C-8FA5-DE71-39EA5BDF7D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0831" y="6948987"/>
              <a:ext cx="1558032" cy="449383"/>
            </a:xfrm>
            <a:prstGeom prst="straightConnector1">
              <a:avLst/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A01F1A4-669D-56E5-01A4-3B17D95A73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55133" y="7020176"/>
              <a:ext cx="1515516" cy="1511114"/>
            </a:xfrm>
            <a:prstGeom prst="straightConnector1">
              <a:avLst/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373DC66-49E2-ED04-5FF1-C68629848C45}"/>
                </a:ext>
              </a:extLst>
            </p:cNvPr>
            <p:cNvCxnSpPr>
              <a:cxnSpLocks/>
            </p:cNvCxnSpPr>
            <p:nvPr/>
          </p:nvCxnSpPr>
          <p:spPr>
            <a:xfrm>
              <a:off x="2444329" y="6285913"/>
              <a:ext cx="1535337" cy="1856332"/>
            </a:xfrm>
            <a:prstGeom prst="straightConnector1">
              <a:avLst/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79123B85-F59C-077A-2F35-54D27DC8E852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>
              <a:off x="2394227" y="7411444"/>
              <a:ext cx="1599748" cy="825359"/>
            </a:xfrm>
            <a:prstGeom prst="straightConnector1">
              <a:avLst/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6C2EB1C-344F-D374-1E50-4CA075F88BEB}"/>
                </a:ext>
              </a:extLst>
            </p:cNvPr>
            <p:cNvCxnSpPr>
              <a:cxnSpLocks/>
              <a:stCxn id="10" idx="3"/>
            </p:cNvCxnSpPr>
            <p:nvPr/>
          </p:nvCxnSpPr>
          <p:spPr>
            <a:xfrm flipV="1">
              <a:off x="2434413" y="8313314"/>
              <a:ext cx="1545626" cy="229402"/>
            </a:xfrm>
            <a:prstGeom prst="straightConnector1">
              <a:avLst/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29F2902B-0CE7-437A-A0F5-1BDB826E8345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>
              <a:off x="6474540" y="6974569"/>
              <a:ext cx="965158" cy="322153"/>
            </a:xfrm>
            <a:prstGeom prst="straightConnector1">
              <a:avLst/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D3A29E2F-C23B-3B47-FCC8-DD2BC5555D77}"/>
                </a:ext>
              </a:extLst>
            </p:cNvPr>
            <p:cNvCxnSpPr>
              <a:cxnSpLocks/>
              <a:stCxn id="14" idx="3"/>
            </p:cNvCxnSpPr>
            <p:nvPr/>
          </p:nvCxnSpPr>
          <p:spPr>
            <a:xfrm flipV="1">
              <a:off x="6474540" y="7323075"/>
              <a:ext cx="955121" cy="885525"/>
            </a:xfrm>
            <a:prstGeom prst="straightConnector1">
              <a:avLst/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D6777CEB-DE93-FDAA-E70F-2531FBE202C4}"/>
                </a:ext>
              </a:extLst>
            </p:cNvPr>
            <p:cNvCxnSpPr>
              <a:cxnSpLocks/>
              <a:stCxn id="12" idx="2"/>
            </p:cNvCxnSpPr>
            <p:nvPr/>
          </p:nvCxnSpPr>
          <p:spPr>
            <a:xfrm flipH="1">
              <a:off x="6869341" y="6230394"/>
              <a:ext cx="219660" cy="876356"/>
            </a:xfrm>
            <a:prstGeom prst="straightConnector1">
              <a:avLst/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BAFFE442-A1F5-24D1-E0C4-A81008DAA0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33437" y="5905554"/>
              <a:ext cx="550364" cy="555947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C184A93A-E00D-8342-9A76-EA2787FA5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00917" y="7136475"/>
              <a:ext cx="507971" cy="549934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15339DA6-0FBE-6ED3-A662-0831C5AFE6E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41101" y="8290834"/>
              <a:ext cx="488618" cy="477122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B6F26487-346B-0CC1-2BA8-3A454D106E1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060794" y="6703583"/>
              <a:ext cx="465599" cy="484068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7A189D23-E578-1B7F-5653-49460AA947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102121" y="7926514"/>
              <a:ext cx="384679" cy="431464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D91D4DF4-3A9F-6FA2-AB90-C12BFB69AC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206562" y="5655744"/>
              <a:ext cx="426627" cy="376036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9E866A3B-2CB2-C05F-552B-4F1B5F2A4C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BEBA8EAE-BF5A-486C-A8C5-ECC9F3942E4B}">
                  <a14:imgProps xmlns:a14="http://schemas.microsoft.com/office/drawing/2010/main">
                    <a14:imgLayer r:embed="rId17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525999" y="7121237"/>
              <a:ext cx="433292" cy="421444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97F7CDD-099F-4ADB-9821-BEDDF2D563F6}"/>
                </a:ext>
              </a:extLst>
            </p:cNvPr>
            <p:cNvSpPr txBox="1"/>
            <p:nvPr/>
          </p:nvSpPr>
          <p:spPr>
            <a:xfrm>
              <a:off x="703986" y="5973338"/>
              <a:ext cx="1967696" cy="7395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>
                  <a:solidFill>
                    <a:sysClr val="windowText" lastClr="000000"/>
                  </a:solidFill>
                  <a:latin typeface="#9Slide02 Noi dung rat dai" panose="02000000000000000000" pitchFamily="2" charset="0"/>
                  <a:ea typeface="#9Slide02 Noi dung rat dai" panose="02000000000000000000" pitchFamily="2" charset="0"/>
                </a:rPr>
                <a:t>Nhận thức tẩy xanh</a:t>
              </a:r>
            </a:p>
            <a:p>
              <a:pPr algn="ctr"/>
              <a:r>
                <a:rPr lang="en-US" sz="800" b="1">
                  <a:solidFill>
                    <a:sysClr val="windowText" lastClr="000000"/>
                  </a:solidFill>
                  <a:latin typeface="#9Slide02 Noi dung rat dai" panose="02000000000000000000" pitchFamily="2" charset="0"/>
                  <a:ea typeface="#9Slide02 Noi dung rat dai" panose="02000000000000000000" pitchFamily="2" charset="0"/>
                </a:rPr>
                <a:t>(PG)</a:t>
              </a:r>
            </a:p>
            <a:p>
              <a:endParaRPr lang="en-US" sz="700" b="1">
                <a:latin typeface="#9Slide02 Noi dung rat dai" panose="02000000000000000000" pitchFamily="2" charset="0"/>
                <a:ea typeface="#9Slide02 Noi dung rat dai" panose="02000000000000000000" pitchFamily="2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A251460-F8AB-51F5-99CA-025CD8071B66}"/>
                </a:ext>
              </a:extLst>
            </p:cNvPr>
            <p:cNvSpPr txBox="1"/>
            <p:nvPr/>
          </p:nvSpPr>
          <p:spPr>
            <a:xfrm>
              <a:off x="915496" y="7044663"/>
              <a:ext cx="1459095" cy="7650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b="1">
                  <a:solidFill>
                    <a:sysClr val="windowText" lastClr="000000"/>
                  </a:solidFill>
                  <a:latin typeface="#9Slide02 Noi dung rat dai" panose="02000000000000000000" pitchFamily="2" charset="0"/>
                  <a:ea typeface="#9Slide02 Noi dung rat dai" panose="02000000000000000000" pitchFamily="2" charset="0"/>
                </a:rPr>
                <a:t>Năng lực hiểu </a:t>
              </a:r>
            </a:p>
            <a:p>
              <a:pPr algn="ctr"/>
              <a:r>
                <a:rPr lang="en-US" sz="800" b="1">
                  <a:solidFill>
                    <a:sysClr val="windowText" lastClr="000000"/>
                  </a:solidFill>
                  <a:latin typeface="#9Slide02 Noi dung rat dai" panose="02000000000000000000" pitchFamily="2" charset="0"/>
                  <a:ea typeface="#9Slide02 Noi dung rat dai" panose="02000000000000000000" pitchFamily="2" charset="0"/>
                </a:rPr>
                <a:t>quảng cáo số</a:t>
              </a:r>
            </a:p>
            <a:p>
              <a:pPr algn="ctr"/>
              <a:r>
                <a:rPr lang="en-US" sz="800" b="1">
                  <a:solidFill>
                    <a:sysClr val="windowText" lastClr="000000"/>
                  </a:solidFill>
                  <a:latin typeface="#9Slide02 Noi dung rat dai" panose="02000000000000000000" pitchFamily="2" charset="0"/>
                  <a:ea typeface="#9Slide02 Noi dung rat dai" panose="02000000000000000000" pitchFamily="2" charset="0"/>
                </a:rPr>
                <a:t>(DAL)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DAE0A2C-4952-31D1-CFD5-080AED21F0E3}"/>
                </a:ext>
              </a:extLst>
            </p:cNvPr>
            <p:cNvSpPr txBox="1"/>
            <p:nvPr/>
          </p:nvSpPr>
          <p:spPr>
            <a:xfrm>
              <a:off x="925593" y="8162598"/>
              <a:ext cx="1508651" cy="7650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b="1">
                  <a:solidFill>
                    <a:sysClr val="windowText" lastClr="000000"/>
                  </a:solidFill>
                  <a:latin typeface="#9Slide02 Noi dung rat dai" panose="02000000000000000000" pitchFamily="2" charset="0"/>
                  <a:ea typeface="#9Slide02 Noi dung rat dai" panose="02000000000000000000" pitchFamily="2" charset="0"/>
                </a:rPr>
                <a:t>Độ tin cậy cậy  nguồn thông tin quảng cáo (SC)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E19DE04-FEB9-A414-CBD1-8D72D41E68FF}"/>
                </a:ext>
              </a:extLst>
            </p:cNvPr>
            <p:cNvSpPr txBox="1"/>
            <p:nvPr/>
          </p:nvSpPr>
          <p:spPr>
            <a:xfrm>
              <a:off x="4191296" y="6601412"/>
              <a:ext cx="2417372" cy="7650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b="1">
                  <a:solidFill>
                    <a:sysClr val="windowText" lastClr="000000"/>
                  </a:solidFill>
                  <a:latin typeface="#9Slide02 Noi dung rat dai" panose="02000000000000000000" pitchFamily="2" charset="0"/>
                  <a:ea typeface="#9Slide02 Noi dung rat dai" panose="02000000000000000000" pitchFamily="2" charset="0"/>
                </a:rPr>
                <a:t>Nhận thức về mục đích </a:t>
              </a:r>
            </a:p>
            <a:p>
              <a:pPr algn="ctr"/>
              <a:r>
                <a:rPr lang="en-US" sz="800" b="1">
                  <a:solidFill>
                    <a:sysClr val="windowText" lastClr="000000"/>
                  </a:solidFill>
                  <a:latin typeface="#9Slide02 Noi dung rat dai" panose="02000000000000000000" pitchFamily="2" charset="0"/>
                  <a:ea typeface="#9Slide02 Noi dung rat dai" panose="02000000000000000000" pitchFamily="2" charset="0"/>
                </a:rPr>
                <a:t>thuyết phục của quảng cáo</a:t>
              </a:r>
            </a:p>
            <a:p>
              <a:pPr algn="ctr"/>
              <a:r>
                <a:rPr lang="en-US" sz="800" b="1">
                  <a:solidFill>
                    <a:sysClr val="windowText" lastClr="000000"/>
                  </a:solidFill>
                  <a:latin typeface="#9Slide02 Noi dung rat dai" panose="02000000000000000000" pitchFamily="2" charset="0"/>
                  <a:ea typeface="#9Slide02 Noi dung rat dai" panose="02000000000000000000" pitchFamily="2" charset="0"/>
                </a:rPr>
                <a:t>(PK) 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A1FA106-AA38-8664-CB10-8DDF14534B69}"/>
                </a:ext>
              </a:extLst>
            </p:cNvPr>
            <p:cNvSpPr txBox="1"/>
            <p:nvPr/>
          </p:nvSpPr>
          <p:spPr>
            <a:xfrm>
              <a:off x="4387518" y="7829149"/>
              <a:ext cx="1902072" cy="7650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b="1">
                  <a:solidFill>
                    <a:sysClr val="windowText" lastClr="000000"/>
                  </a:solidFill>
                  <a:latin typeface="#9Slide02 Noi dung rat dai" panose="02000000000000000000" pitchFamily="2" charset="0"/>
                  <a:ea typeface="#9Slide02 Noi dung rat dai" panose="02000000000000000000" pitchFamily="2" charset="0"/>
                </a:rPr>
                <a:t>Sự hoài nghi đối với</a:t>
              </a:r>
            </a:p>
            <a:p>
              <a:pPr algn="ctr"/>
              <a:r>
                <a:rPr lang="en-US" sz="800" b="1">
                  <a:solidFill>
                    <a:sysClr val="windowText" lastClr="000000"/>
                  </a:solidFill>
                  <a:latin typeface="#9Slide02 Noi dung rat dai" panose="02000000000000000000" pitchFamily="2" charset="0"/>
                  <a:ea typeface="#9Slide02 Noi dung rat dai" panose="02000000000000000000" pitchFamily="2" charset="0"/>
                </a:rPr>
                <a:t> thông điệp quảng cáo</a:t>
              </a:r>
              <a:br>
                <a:rPr lang="en-US" sz="800" b="1">
                  <a:solidFill>
                    <a:sysClr val="windowText" lastClr="000000"/>
                  </a:solidFill>
                  <a:latin typeface="#9Slide02 Noi dung rat dai" panose="02000000000000000000" pitchFamily="2" charset="0"/>
                  <a:ea typeface="#9Slide02 Noi dung rat dai" panose="02000000000000000000" pitchFamily="2" charset="0"/>
                </a:rPr>
              </a:br>
              <a:r>
                <a:rPr lang="en-US" sz="800" b="1">
                  <a:solidFill>
                    <a:sysClr val="windowText" lastClr="000000"/>
                  </a:solidFill>
                  <a:latin typeface="#9Slide02 Noi dung rat dai" panose="02000000000000000000" pitchFamily="2" charset="0"/>
                  <a:ea typeface="#9Slide02 Noi dung rat dai" panose="02000000000000000000" pitchFamily="2" charset="0"/>
                </a:rPr>
                <a:t>(AS) 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82D0B51-38BD-15A1-D565-C2F04648D24D}"/>
                </a:ext>
              </a:extLst>
            </p:cNvPr>
            <p:cNvSpPr txBox="1"/>
            <p:nvPr/>
          </p:nvSpPr>
          <p:spPr>
            <a:xfrm>
              <a:off x="6474540" y="5507049"/>
              <a:ext cx="1613557" cy="7650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b="1">
                  <a:solidFill>
                    <a:sysClr val="windowText" lastClr="000000"/>
                  </a:solidFill>
                  <a:latin typeface="#9Slide02 Noi dung rat dai" panose="02000000000000000000" pitchFamily="2" charset="0"/>
                  <a:ea typeface="#9Slide02 Noi dung rat dai" panose="02000000000000000000" pitchFamily="2" charset="0"/>
                </a:rPr>
                <a:t>Sự tham gia của </a:t>
              </a:r>
            </a:p>
            <a:p>
              <a:pPr algn="ctr"/>
              <a:r>
                <a:rPr lang="en-US" sz="800" b="1">
                  <a:solidFill>
                    <a:sysClr val="windowText" lastClr="000000"/>
                  </a:solidFill>
                  <a:latin typeface="#9Slide02 Noi dung rat dai" panose="02000000000000000000" pitchFamily="2" charset="0"/>
                  <a:ea typeface="#9Slide02 Noi dung rat dai" panose="02000000000000000000" pitchFamily="2" charset="0"/>
                </a:rPr>
                <a:t>người tiêu dùng</a:t>
              </a:r>
              <a:br>
                <a:rPr lang="en-US" sz="800" b="1">
                  <a:solidFill>
                    <a:sysClr val="windowText" lastClr="000000"/>
                  </a:solidFill>
                  <a:latin typeface="#9Slide02 Noi dung rat dai" panose="02000000000000000000" pitchFamily="2" charset="0"/>
                  <a:ea typeface="#9Slide02 Noi dung rat dai" panose="02000000000000000000" pitchFamily="2" charset="0"/>
                </a:rPr>
              </a:br>
              <a:r>
                <a:rPr lang="en-US" sz="800" b="1">
                  <a:solidFill>
                    <a:sysClr val="windowText" lastClr="000000"/>
                  </a:solidFill>
                  <a:latin typeface="#9Slide02 Noi dung rat dai" panose="02000000000000000000" pitchFamily="2" charset="0"/>
                  <a:ea typeface="#9Slide02 Noi dung rat dai" panose="02000000000000000000" pitchFamily="2" charset="0"/>
                </a:rPr>
                <a:t>(CI) 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72E65F5-69CD-1DAA-CD99-10B0EF65226E}"/>
                </a:ext>
              </a:extLst>
            </p:cNvPr>
            <p:cNvSpPr txBox="1"/>
            <p:nvPr/>
          </p:nvSpPr>
          <p:spPr>
            <a:xfrm>
              <a:off x="7760010" y="6945617"/>
              <a:ext cx="1521251" cy="7650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b="1">
                  <a:solidFill>
                    <a:sysClr val="windowText" lastClr="000000"/>
                  </a:solidFill>
                  <a:latin typeface="#9Slide02 Noi dung rat dai" panose="02000000000000000000" pitchFamily="2" charset="0"/>
                  <a:ea typeface="#9Slide02 Noi dung rat dai" panose="02000000000000000000" pitchFamily="2" charset="0"/>
                </a:rPr>
                <a:t>Ý định mua </a:t>
              </a:r>
            </a:p>
            <a:p>
              <a:pPr algn="ctr"/>
              <a:r>
                <a:rPr lang="en-US" sz="800" b="1">
                  <a:solidFill>
                    <a:sysClr val="windowText" lastClr="000000"/>
                  </a:solidFill>
                  <a:latin typeface="#9Slide02 Noi dung rat dai" panose="02000000000000000000" pitchFamily="2" charset="0"/>
                  <a:ea typeface="#9Slide02 Noi dung rat dai" panose="02000000000000000000" pitchFamily="2" charset="0"/>
                </a:rPr>
                <a:t>sản phẩm xanh</a:t>
              </a:r>
              <a:br>
                <a:rPr lang="en-US" sz="800" b="1">
                  <a:solidFill>
                    <a:sysClr val="windowText" lastClr="000000"/>
                  </a:solidFill>
                  <a:latin typeface="#9Slide02 Noi dung rat dai" panose="02000000000000000000" pitchFamily="2" charset="0"/>
                  <a:ea typeface="#9Slide02 Noi dung rat dai" panose="02000000000000000000" pitchFamily="2" charset="0"/>
                </a:rPr>
              </a:br>
              <a:r>
                <a:rPr lang="en-US" sz="800" b="1">
                  <a:solidFill>
                    <a:sysClr val="windowText" lastClr="000000"/>
                  </a:solidFill>
                  <a:latin typeface="#9Slide02 Noi dung rat dai" panose="02000000000000000000" pitchFamily="2" charset="0"/>
                  <a:ea typeface="#9Slide02 Noi dung rat dai" panose="02000000000000000000" pitchFamily="2" charset="0"/>
                </a:rPr>
                <a:t>(PI) </a:t>
              </a:r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1772482" y="1981200"/>
            <a:ext cx="1005483" cy="3464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accent1">
                    <a:lumMod val="50000"/>
                  </a:schemeClr>
                </a:solidFill>
                <a:latin typeface="#9Slide01 Tieu de ngan" panose="00000800000000000000" pitchFamily="2" charset="0"/>
              </a:rPr>
              <a:t>S.24.16</a:t>
            </a:r>
          </a:p>
        </p:txBody>
      </p:sp>
      <p:sp>
        <p:nvSpPr>
          <p:cNvPr id="8" name="Rectangle 7"/>
          <p:cNvSpPr/>
          <p:nvPr/>
        </p:nvSpPr>
        <p:spPr>
          <a:xfrm>
            <a:off x="3541213" y="1561821"/>
            <a:ext cx="532907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>
                <a:blipFill>
                  <a:blip r:embed="rId18"/>
                  <a:tile tx="0" ty="0" sx="100000" sy="100000" flip="none" algn="tl"/>
                </a:blipFill>
                <a:latin typeface="#9Slide01 Tieu de ngan" panose="000008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QUẢNG CÁO XANH</a:t>
            </a:r>
            <a:r>
              <a:rPr lang="en-US" sz="1600">
                <a:blipFill>
                  <a:blip r:embed="rId18"/>
                  <a:tile tx="0" ty="0" sx="100000" sy="100000" flip="none" algn="tl"/>
                </a:blipFill>
                <a:latin typeface="#9Slide01 Tieu de ngan" panose="000008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>
                <a:solidFill>
                  <a:srgbClr val="002060"/>
                </a:solidFill>
                <a:latin typeface="#9Slide01 Tieu de ngan" panose="000008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 Ý ĐỊNH MUA: </a:t>
            </a:r>
            <a:br>
              <a:rPr lang="en-US" sz="1800">
                <a:solidFill>
                  <a:srgbClr val="002060"/>
                </a:solidFill>
                <a:latin typeface="#9Slide01 Tieu de ngan" panose="000008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>
                <a:solidFill>
                  <a:srgbClr val="002060"/>
                </a:solidFill>
                <a:latin typeface="#9Slide01 Tieu de ngan" panose="000008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VAI TRÒ CỦA NHẬN THỨC, SỰ HOÀI NGHI </a:t>
            </a:r>
            <a:br>
              <a:rPr lang="en-US" sz="1800">
                <a:solidFill>
                  <a:srgbClr val="002060"/>
                </a:solidFill>
                <a:latin typeface="#9Slide01 Tieu de ngan" panose="000008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>
                <a:solidFill>
                  <a:srgbClr val="002060"/>
                </a:solidFill>
                <a:latin typeface="#9Slide01 Tieu de ngan" panose="000008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 THAM GIA CỦA NGƯỜI TIÊU DÙNG</a:t>
            </a:r>
            <a:endParaRPr lang="en-US" sz="1600">
              <a:solidFill>
                <a:srgbClr val="002060"/>
              </a:solidFill>
              <a:latin typeface="#9Slide01 Tieu de ngan" panose="000008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1A0F0775-D315-0762-35A3-E004A91F01B3}"/>
              </a:ext>
            </a:extLst>
          </p:cNvPr>
          <p:cNvSpPr/>
          <p:nvPr/>
        </p:nvSpPr>
        <p:spPr>
          <a:xfrm>
            <a:off x="4009068" y="5526236"/>
            <a:ext cx="4544028" cy="1724112"/>
          </a:xfrm>
          <a:prstGeom prst="roundRect">
            <a:avLst>
              <a:gd name="adj" fmla="val 10231"/>
            </a:avLst>
          </a:prstGeom>
          <a:solidFill>
            <a:schemeClr val="accent6">
              <a:lumMod val="20000"/>
              <a:lumOff val="80000"/>
              <a:alpha val="95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vi-VN" sz="1000">
              <a:solidFill>
                <a:sysClr val="windowText" lastClr="000000"/>
              </a:solidFill>
              <a:latin typeface="#9Slide02 Noi dung rat dai" panose="02000000000000000000" pitchFamily="2" charset="0"/>
              <a:ea typeface="#9Slide02 Noi dung rat dai" panose="02000000000000000000" pitchFamily="2" charset="0"/>
            </a:endParaRPr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58BB582F-FBF8-BAF0-524B-CB4E2898992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61077" y="9923237"/>
            <a:ext cx="179485" cy="179485"/>
          </a:xfrm>
          <a:prstGeom prst="rect">
            <a:avLst/>
          </a:prstGeom>
        </p:spPr>
      </p:pic>
      <p:pic>
        <p:nvPicPr>
          <p:cNvPr id="124" name="Picture 123">
            <a:extLst>
              <a:ext uri="{FF2B5EF4-FFF2-40B4-BE49-F238E27FC236}">
                <a16:creationId xmlns:a16="http://schemas.microsoft.com/office/drawing/2014/main" id="{044072B5-864D-174A-9ECA-98906826AEA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275224" y="8212115"/>
            <a:ext cx="208307" cy="208307"/>
          </a:xfrm>
          <a:prstGeom prst="rect">
            <a:avLst/>
          </a:prstGeom>
        </p:spPr>
      </p:pic>
      <p:grpSp>
        <p:nvGrpSpPr>
          <p:cNvPr id="146" name="Group 145">
            <a:extLst>
              <a:ext uri="{FF2B5EF4-FFF2-40B4-BE49-F238E27FC236}">
                <a16:creationId xmlns:a16="http://schemas.microsoft.com/office/drawing/2014/main" id="{F4A2A853-16BF-3747-DC44-A96A10BA8BE7}"/>
              </a:ext>
            </a:extLst>
          </p:cNvPr>
          <p:cNvGrpSpPr/>
          <p:nvPr/>
        </p:nvGrpSpPr>
        <p:grpSpPr>
          <a:xfrm>
            <a:off x="936695" y="5598503"/>
            <a:ext cx="2752413" cy="1353190"/>
            <a:chOff x="936695" y="5428579"/>
            <a:chExt cx="2752413" cy="1353190"/>
          </a:xfrm>
        </p:grpSpPr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EDEA3A19-5512-D5AC-F1F1-5C17D0E78C69}"/>
                </a:ext>
              </a:extLst>
            </p:cNvPr>
            <p:cNvGrpSpPr/>
            <p:nvPr/>
          </p:nvGrpSpPr>
          <p:grpSpPr>
            <a:xfrm>
              <a:off x="936695" y="5428579"/>
              <a:ext cx="2752413" cy="1353190"/>
              <a:chOff x="843795" y="5625403"/>
              <a:chExt cx="2752413" cy="1353190"/>
            </a:xfrm>
          </p:grpSpPr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FB5A45D2-81CE-16B7-4EDF-29436A86FCA1}"/>
                  </a:ext>
                </a:extLst>
              </p:cNvPr>
              <p:cNvSpPr/>
              <p:nvPr/>
            </p:nvSpPr>
            <p:spPr>
              <a:xfrm>
                <a:off x="843795" y="5987752"/>
                <a:ext cx="2752413" cy="990841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  <a:alpha val="95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  <a:effectLst>
                <a:softEdge rad="3175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vi-VN" sz="1000">
                    <a:solidFill>
                      <a:schemeClr val="tx1"/>
                    </a:solidFill>
                    <a:latin typeface="#9Slide02 Noi dung rat dai" panose="02000000000000000000" pitchFamily="2" charset="0"/>
                    <a:ea typeface="#9Slide02 Noi dung rat dai" panose="02000000000000000000" pitchFamily="2" charset="0"/>
                  </a:rPr>
                  <a:t>Đánh giá </a:t>
                </a:r>
                <a:r>
                  <a:rPr lang="vi-VN" sz="1000" b="1">
                    <a:solidFill>
                      <a:schemeClr val="tx1"/>
                    </a:solidFill>
                    <a:latin typeface="#9Slide02 Noi dung rat dai" panose="02000000000000000000" pitchFamily="2" charset="0"/>
                    <a:ea typeface="#9Slide02 Noi dung rat dai" panose="02000000000000000000" pitchFamily="2" charset="0"/>
                  </a:rPr>
                  <a:t>tác động</a:t>
                </a:r>
                <a:r>
                  <a:rPr lang="vi-VN" sz="1000">
                    <a:solidFill>
                      <a:schemeClr val="tx1"/>
                    </a:solidFill>
                    <a:latin typeface="#9Slide02 Noi dung rat dai" panose="02000000000000000000" pitchFamily="2" charset="0"/>
                    <a:ea typeface="#9Slide02 Noi dung rat dai" panose="02000000000000000000" pitchFamily="2" charset="0"/>
                  </a:rPr>
                  <a:t> của </a:t>
                </a:r>
                <a:r>
                  <a:rPr lang="en-US" sz="1000">
                    <a:solidFill>
                      <a:schemeClr val="tx1"/>
                    </a:solidFill>
                    <a:latin typeface="#9Slide02 Noi dung rat dai" panose="02000000000000000000" pitchFamily="2" charset="0"/>
                    <a:ea typeface="#9Slide02 Noi dung rat dai" panose="02000000000000000000" pitchFamily="2" charset="0"/>
                  </a:rPr>
                  <a:t>các yếu tố</a:t>
                </a:r>
                <a:r>
                  <a:rPr lang="vi-VN" sz="1000">
                    <a:solidFill>
                      <a:schemeClr val="tx1"/>
                    </a:solidFill>
                    <a:latin typeface="#9Slide02 Noi dung rat dai" panose="02000000000000000000" pitchFamily="2" charset="0"/>
                    <a:ea typeface="#9Slide02 Noi dung rat dai" panose="02000000000000000000" pitchFamily="2" charset="0"/>
                  </a:rPr>
                  <a:t> đến </a:t>
                </a:r>
                <a:r>
                  <a:rPr lang="vi-VN" sz="1000" b="1">
                    <a:solidFill>
                      <a:schemeClr val="tx1"/>
                    </a:solidFill>
                    <a:latin typeface="#9Slide02 Noi dung rat dai" panose="02000000000000000000" pitchFamily="2" charset="0"/>
                    <a:ea typeface="#9Slide02 Noi dung rat dai" panose="02000000000000000000" pitchFamily="2" charset="0"/>
                  </a:rPr>
                  <a:t>Ý định mua sản phẩm xanh.</a:t>
                </a:r>
              </a:p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vi-VN" sz="1000">
                    <a:solidFill>
                      <a:schemeClr val="tx1"/>
                    </a:solidFill>
                    <a:latin typeface="#9Slide02 Noi dung rat dai" panose="02000000000000000000" pitchFamily="2" charset="0"/>
                    <a:ea typeface="#9Slide02 Noi dung rat dai" panose="02000000000000000000" pitchFamily="2" charset="0"/>
                  </a:rPr>
                  <a:t>Kiểm định vai trò </a:t>
                </a:r>
                <a:r>
                  <a:rPr lang="vi-VN" sz="1000" b="1">
                    <a:solidFill>
                      <a:schemeClr val="tx1"/>
                    </a:solidFill>
                    <a:latin typeface="#9Slide02 Noi dung rat dai" panose="02000000000000000000" pitchFamily="2" charset="0"/>
                    <a:ea typeface="#9Slide02 Noi dung rat dai" panose="02000000000000000000" pitchFamily="2" charset="0"/>
                  </a:rPr>
                  <a:t>điều tiết </a:t>
                </a:r>
                <a:r>
                  <a:rPr lang="vi-VN" sz="1000">
                    <a:solidFill>
                      <a:schemeClr val="tx1"/>
                    </a:solidFill>
                    <a:latin typeface="#9Slide02 Noi dung rat dai" panose="02000000000000000000" pitchFamily="2" charset="0"/>
                    <a:ea typeface="#9Slide02 Noi dung rat dai" panose="02000000000000000000" pitchFamily="2" charset="0"/>
                  </a:rPr>
                  <a:t>của </a:t>
                </a:r>
                <a:r>
                  <a:rPr lang="vi-VN" sz="1000" b="1">
                    <a:solidFill>
                      <a:schemeClr val="tx1"/>
                    </a:solidFill>
                    <a:latin typeface="#9Slide02 Noi dung rat dai" panose="02000000000000000000" pitchFamily="2" charset="0"/>
                    <a:ea typeface="#9Slide02 Noi dung rat dai" panose="02000000000000000000" pitchFamily="2" charset="0"/>
                  </a:rPr>
                  <a:t>Sự tham gia của người tiêu dùng</a:t>
                </a:r>
                <a:r>
                  <a:rPr lang="vi-VN" sz="1000">
                    <a:solidFill>
                      <a:schemeClr val="tx1"/>
                    </a:solidFill>
                    <a:latin typeface="#9Slide02 Noi dung rat dai" panose="02000000000000000000" pitchFamily="2" charset="0"/>
                    <a:ea typeface="#9Slide02 Noi dung rat dai" panose="02000000000000000000" pitchFamily="2" charset="0"/>
                  </a:rPr>
                  <a:t> </a:t>
                </a:r>
                <a:r>
                  <a:rPr lang="en-US" sz="1000">
                    <a:solidFill>
                      <a:schemeClr val="tx1"/>
                    </a:solidFill>
                    <a:latin typeface="#9Slide02 Noi dung rat dai" panose="02000000000000000000" pitchFamily="2" charset="0"/>
                    <a:ea typeface="#9Slide02 Noi dung rat dai" panose="02000000000000000000" pitchFamily="2" charset="0"/>
                  </a:rPr>
                  <a:t>đến </a:t>
                </a:r>
                <a:r>
                  <a:rPr lang="vi-VN" sz="1000">
                    <a:solidFill>
                      <a:schemeClr val="tx1"/>
                    </a:solidFill>
                    <a:latin typeface="#9Slide02 Noi dung rat dai" panose="02000000000000000000" pitchFamily="2" charset="0"/>
                    <a:ea typeface="#9Slide02 Noi dung rat dai" panose="02000000000000000000" pitchFamily="2" charset="0"/>
                  </a:rPr>
                  <a:t>mối quan hệ </a:t>
                </a:r>
                <a:r>
                  <a:rPr lang="en-US" sz="1000">
                    <a:solidFill>
                      <a:schemeClr val="tx1"/>
                    </a:solidFill>
                    <a:latin typeface="#9Slide02 Noi dung rat dai" panose="02000000000000000000" pitchFamily="2" charset="0"/>
                    <a:ea typeface="#9Slide02 Noi dung rat dai" panose="02000000000000000000" pitchFamily="2" charset="0"/>
                  </a:rPr>
                  <a:t>"kiến thức thuyết phục" và ý định mua sản phẩm xanh</a:t>
                </a:r>
                <a:r>
                  <a:rPr lang="vi-VN" sz="1000">
                    <a:solidFill>
                      <a:schemeClr val="tx1"/>
                    </a:solidFill>
                    <a:latin typeface="#9Slide02 Noi dung rat dai" panose="02000000000000000000" pitchFamily="2" charset="0"/>
                    <a:ea typeface="#9Slide02 Noi dung rat dai" panose="02000000000000000000" pitchFamily="2" charset="0"/>
                  </a:rPr>
                  <a:t>.</a:t>
                </a:r>
              </a:p>
            </p:txBody>
          </p:sp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D720E297-816C-70D0-4CBA-815D98988D0F}"/>
                  </a:ext>
                </a:extLst>
              </p:cNvPr>
              <p:cNvSpPr/>
              <p:nvPr/>
            </p:nvSpPr>
            <p:spPr>
              <a:xfrm>
                <a:off x="1005705" y="5625403"/>
                <a:ext cx="2442608" cy="403946"/>
              </a:xfrm>
              <a:prstGeom prst="roundRect">
                <a:avLst/>
              </a:prstGeom>
              <a:solidFill>
                <a:schemeClr val="accent6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>
                  <a:buNone/>
                </a:pPr>
                <a:r>
                  <a:rPr lang="en-US" sz="1400" b="1">
                    <a:latin typeface="#9Slide01 Tieu de ngan" panose="00000800000000000000" pitchFamily="2" charset="0"/>
                  </a:rPr>
                  <a:t>    </a:t>
                </a:r>
                <a:r>
                  <a:rPr lang="vi-VN" sz="1300" b="1">
                    <a:latin typeface="#9Slide01 Tieu de ngan" panose="00000800000000000000" pitchFamily="2" charset="0"/>
                  </a:rPr>
                  <a:t>2. Mục tiêu N</a:t>
                </a:r>
                <a:r>
                  <a:rPr lang="en-US" sz="1300" b="1">
                    <a:latin typeface="#9Slide01 Tieu de ngan" panose="00000800000000000000" pitchFamily="2" charset="0"/>
                  </a:rPr>
                  <a:t>ghiên cứu</a:t>
                </a:r>
              </a:p>
            </p:txBody>
          </p:sp>
        </p:grpSp>
        <p:pic>
          <p:nvPicPr>
            <p:cNvPr id="128" name="Picture 127">
              <a:extLst>
                <a:ext uri="{FF2B5EF4-FFF2-40B4-BE49-F238E27FC236}">
                  <a16:creationId xmlns:a16="http://schemas.microsoft.com/office/drawing/2014/main" id="{2EB503EA-99F6-6053-7F94-8B41076598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182777" y="5521177"/>
              <a:ext cx="237314" cy="237314"/>
            </a:xfrm>
            <a:prstGeom prst="rect">
              <a:avLst/>
            </a:prstGeom>
          </p:spPr>
        </p:pic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A4C39691-045A-8CE0-D211-60EC174A5244}"/>
              </a:ext>
            </a:extLst>
          </p:cNvPr>
          <p:cNvGrpSpPr/>
          <p:nvPr/>
        </p:nvGrpSpPr>
        <p:grpSpPr>
          <a:xfrm>
            <a:off x="892086" y="2788390"/>
            <a:ext cx="2671778" cy="1547887"/>
            <a:chOff x="878514" y="2991110"/>
            <a:chExt cx="2671778" cy="1547887"/>
          </a:xfrm>
        </p:grpSpPr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09851893-B5E5-DD7F-8CC8-02785649C19F}"/>
                </a:ext>
              </a:extLst>
            </p:cNvPr>
            <p:cNvSpPr/>
            <p:nvPr/>
          </p:nvSpPr>
          <p:spPr>
            <a:xfrm>
              <a:off x="878514" y="3353030"/>
              <a:ext cx="2671778" cy="1185967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  <a:alpha val="95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  <a:effectLst>
              <a:softEdge rad="3175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vi-VN" sz="1000" b="1">
                  <a:solidFill>
                    <a:schemeClr val="tx1"/>
                  </a:solidFill>
                  <a:latin typeface="#9Slide02 Noi dung rat dai" panose="02000000000000000000" pitchFamily="2" charset="0"/>
                  <a:ea typeface="#9Slide02 Noi dung rat dai" panose="02000000000000000000" pitchFamily="2" charset="0"/>
                </a:rPr>
                <a:t>Xu hướng:</a:t>
              </a:r>
              <a:r>
                <a:rPr lang="vi-VN" sz="1000">
                  <a:solidFill>
                    <a:schemeClr val="tx1"/>
                  </a:solidFill>
                  <a:latin typeface="#9Slide02 Noi dung rat dai" panose="02000000000000000000" pitchFamily="2" charset="0"/>
                  <a:ea typeface="#9Slide02 Noi dung rat dai" panose="02000000000000000000" pitchFamily="2" charset="0"/>
                </a:rPr>
                <a:t> Tiêu dùng bền vững bùng nổ, quảng cáo dán </a:t>
              </a:r>
              <a:r>
                <a:rPr lang="vi-VN" sz="1000" b="1">
                  <a:solidFill>
                    <a:schemeClr val="tx1"/>
                  </a:solidFill>
                  <a:latin typeface="#9Slide02 Noi dung rat dai" panose="02000000000000000000" pitchFamily="2" charset="0"/>
                  <a:ea typeface="#9Slide02 Noi dung rat dai" panose="02000000000000000000" pitchFamily="2" charset="0"/>
                </a:rPr>
                <a:t>nhãn "xanh"</a:t>
              </a:r>
              <a:r>
                <a:rPr lang="vi-VN" sz="1000">
                  <a:solidFill>
                    <a:schemeClr val="tx1"/>
                  </a:solidFill>
                  <a:latin typeface="#9Slide02 Noi dung rat dai" panose="02000000000000000000" pitchFamily="2" charset="0"/>
                  <a:ea typeface="#9Slide02 Noi dung rat dai" panose="02000000000000000000" pitchFamily="2" charset="0"/>
                </a:rPr>
                <a:t> lan tràn trên </a:t>
              </a:r>
              <a:r>
                <a:rPr lang="vi-VN" sz="1000" b="1">
                  <a:solidFill>
                    <a:schemeClr val="tx1"/>
                  </a:solidFill>
                  <a:latin typeface="#9Slide02 Noi dung rat dai" panose="02000000000000000000" pitchFamily="2" charset="0"/>
                  <a:ea typeface="#9Slide02 Noi dung rat dai" panose="02000000000000000000" pitchFamily="2" charset="0"/>
                </a:rPr>
                <a:t>Thương mại điện tử</a:t>
              </a:r>
              <a:r>
                <a:rPr lang="vi-VN" sz="1000">
                  <a:solidFill>
                    <a:schemeClr val="tx1"/>
                  </a:solidFill>
                  <a:latin typeface="#9Slide02 Noi dung rat dai" panose="02000000000000000000" pitchFamily="2" charset="0"/>
                  <a:ea typeface="#9Slide02 Noi dung rat dai" panose="02000000000000000000" pitchFamily="2" charset="0"/>
                </a:rPr>
                <a:t>.</a:t>
              </a:r>
            </a:p>
            <a:p>
              <a:pPr algn="just"/>
              <a:r>
                <a:rPr lang="vi-VN" sz="1000" b="1">
                  <a:solidFill>
                    <a:schemeClr val="tx1"/>
                  </a:solidFill>
                  <a:latin typeface="#9Slide02 Noi dung rat dai" panose="02000000000000000000" pitchFamily="2" charset="0"/>
                  <a:ea typeface="#9Slide02 Noi dung rat dai" panose="02000000000000000000" pitchFamily="2" charset="0"/>
                </a:rPr>
                <a:t>Vấn đề:</a:t>
              </a:r>
              <a:r>
                <a:rPr lang="vi-VN" sz="1000">
                  <a:solidFill>
                    <a:schemeClr val="tx1"/>
                  </a:solidFill>
                  <a:latin typeface="#9Slide02 Noi dung rat dai" panose="02000000000000000000" pitchFamily="2" charset="0"/>
                  <a:ea typeface="#9Slide02 Noi dung rat dai" panose="02000000000000000000" pitchFamily="2" charset="0"/>
                </a:rPr>
                <a:t> Sự gia tăng của hành vi </a:t>
              </a:r>
              <a:r>
                <a:rPr lang="vi-VN" sz="1000" b="1">
                  <a:solidFill>
                    <a:schemeClr val="accent6">
                      <a:lumMod val="50000"/>
                    </a:schemeClr>
                  </a:solidFill>
                  <a:latin typeface="#9Slide02 Noi dung rat dai" panose="02000000000000000000" pitchFamily="2" charset="0"/>
                  <a:ea typeface="#9Slide02 Noi dung rat dai" panose="02000000000000000000" pitchFamily="2" charset="0"/>
                </a:rPr>
                <a:t>"tẩy xanh" (Greenwashing)</a:t>
              </a:r>
              <a:r>
                <a:rPr lang="vi-VN" sz="1000">
                  <a:solidFill>
                    <a:schemeClr val="tx1"/>
                  </a:solidFill>
                  <a:latin typeface="#9Slide02 Noi dung rat dai" panose="02000000000000000000" pitchFamily="2" charset="0"/>
                  <a:ea typeface="#9Slide02 Noi dung rat dai" panose="02000000000000000000" pitchFamily="2" charset="0"/>
                </a:rPr>
                <a:t> làm </a:t>
              </a:r>
              <a:r>
                <a:rPr lang="en-US" sz="1000">
                  <a:solidFill>
                    <a:schemeClr val="tx1"/>
                  </a:solidFill>
                  <a:latin typeface="#9Slide02 Noi dung rat dai" panose="02000000000000000000" pitchFamily="2" charset="0"/>
                  <a:ea typeface="#9Slide02 Noi dung rat dai" panose="02000000000000000000" pitchFamily="2" charset="0"/>
                </a:rPr>
                <a:t>mất</a:t>
              </a:r>
              <a:r>
                <a:rPr lang="vi-VN" sz="1000">
                  <a:solidFill>
                    <a:schemeClr val="tx1"/>
                  </a:solidFill>
                  <a:latin typeface="#9Slide02 Noi dung rat dai" panose="02000000000000000000" pitchFamily="2" charset="0"/>
                  <a:ea typeface="#9Slide02 Noi dung rat dai" panose="02000000000000000000" pitchFamily="2" charset="0"/>
                </a:rPr>
                <a:t> niềm tin, tạo ra môi trường nhiễu loạn thông tin.</a:t>
              </a:r>
            </a:p>
          </p:txBody>
        </p: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1BDB7373-8560-941B-4E23-9EB174425E44}"/>
                </a:ext>
              </a:extLst>
            </p:cNvPr>
            <p:cNvSpPr/>
            <p:nvPr/>
          </p:nvSpPr>
          <p:spPr>
            <a:xfrm>
              <a:off x="973536" y="2991110"/>
              <a:ext cx="2417661" cy="403946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vi-VN" sz="1300" b="1">
                  <a:latin typeface="#9Slide01 Tieu de ngan" panose="00000800000000000000" pitchFamily="2" charset="0"/>
                </a:rPr>
                <a:t>1. Bối cảnh</a:t>
              </a:r>
              <a:r>
                <a:rPr lang="en-US" sz="1300" b="1">
                  <a:latin typeface="#9Slide01 Tieu de ngan" panose="00000800000000000000" pitchFamily="2" charset="0"/>
                </a:rPr>
                <a:t> Nghiên cứu</a:t>
              </a:r>
              <a:endParaRPr lang="vi-VN" sz="1300">
                <a:latin typeface="#9Slide01 Tieu de ngan" panose="00000800000000000000" pitchFamily="2" charset="0"/>
              </a:endParaRPr>
            </a:p>
          </p:txBody>
        </p:sp>
      </p:grpSp>
      <p:pic>
        <p:nvPicPr>
          <p:cNvPr id="131" name="Picture 130">
            <a:extLst>
              <a:ext uri="{FF2B5EF4-FFF2-40B4-BE49-F238E27FC236}">
                <a16:creationId xmlns:a16="http://schemas.microsoft.com/office/drawing/2014/main" id="{193CB0AE-3977-E238-766D-0A84A2E4850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47324" y="2840053"/>
            <a:ext cx="270907" cy="298477"/>
          </a:xfrm>
          <a:prstGeom prst="rect">
            <a:avLst/>
          </a:prstGeom>
        </p:spPr>
      </p:pic>
      <p:grpSp>
        <p:nvGrpSpPr>
          <p:cNvPr id="147" name="Group 146">
            <a:extLst>
              <a:ext uri="{FF2B5EF4-FFF2-40B4-BE49-F238E27FC236}">
                <a16:creationId xmlns:a16="http://schemas.microsoft.com/office/drawing/2014/main" id="{9E84ABAC-0E80-6B72-5989-43EEA50EA5AE}"/>
              </a:ext>
            </a:extLst>
          </p:cNvPr>
          <p:cNvGrpSpPr/>
          <p:nvPr/>
        </p:nvGrpSpPr>
        <p:grpSpPr>
          <a:xfrm>
            <a:off x="911267" y="7154720"/>
            <a:ext cx="2841418" cy="3721464"/>
            <a:chOff x="911267" y="7075349"/>
            <a:chExt cx="2841418" cy="3721464"/>
          </a:xfrm>
        </p:grpSpPr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0EAD78D4-8262-DC7D-AC7E-939E718A89A8}"/>
                </a:ext>
              </a:extLst>
            </p:cNvPr>
            <p:cNvGrpSpPr/>
            <p:nvPr/>
          </p:nvGrpSpPr>
          <p:grpSpPr>
            <a:xfrm>
              <a:off x="911267" y="7075349"/>
              <a:ext cx="2841418" cy="3721464"/>
              <a:chOff x="911267" y="7075349"/>
              <a:chExt cx="2841418" cy="3721464"/>
            </a:xfrm>
          </p:grpSpPr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0B2F2FCF-F5D2-B4A1-0CE6-748ED0A6AA5B}"/>
                  </a:ext>
                </a:extLst>
              </p:cNvPr>
              <p:cNvGrpSpPr/>
              <p:nvPr/>
            </p:nvGrpSpPr>
            <p:grpSpPr>
              <a:xfrm>
                <a:off x="911267" y="7075349"/>
                <a:ext cx="2841418" cy="3721464"/>
                <a:chOff x="816182" y="7263069"/>
                <a:chExt cx="2841418" cy="3721464"/>
              </a:xfrm>
            </p:grpSpPr>
            <p:sp>
              <p:nvSpPr>
                <p:cNvPr id="60" name="Rectangle: Rounded Corners 59">
                  <a:extLst>
                    <a:ext uri="{FF2B5EF4-FFF2-40B4-BE49-F238E27FC236}">
                      <a16:creationId xmlns:a16="http://schemas.microsoft.com/office/drawing/2014/main" id="{5B43A4EF-C226-3152-84AD-64D9A577AD82}"/>
                    </a:ext>
                  </a:extLst>
                </p:cNvPr>
                <p:cNvSpPr/>
                <p:nvPr/>
              </p:nvSpPr>
              <p:spPr>
                <a:xfrm>
                  <a:off x="854909" y="7263069"/>
                  <a:ext cx="2802691" cy="403946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>
                    <a:buNone/>
                  </a:pPr>
                  <a:r>
                    <a:rPr lang="en-US" sz="1300" b="1">
                      <a:latin typeface="#9Slide01 Tieu de ngan" panose="00000800000000000000" pitchFamily="2" charset="0"/>
                    </a:rPr>
                    <a:t>3. Phương pháp nghiên cứu</a:t>
                  </a:r>
                </a:p>
              </p:txBody>
            </p:sp>
            <p:grpSp>
              <p:nvGrpSpPr>
                <p:cNvPr id="110" name="Group 109">
                  <a:extLst>
                    <a:ext uri="{FF2B5EF4-FFF2-40B4-BE49-F238E27FC236}">
                      <a16:creationId xmlns:a16="http://schemas.microsoft.com/office/drawing/2014/main" id="{6CC417DB-C63A-7EB6-CF05-0F0B4125094C}"/>
                    </a:ext>
                  </a:extLst>
                </p:cNvPr>
                <p:cNvGrpSpPr/>
                <p:nvPr/>
              </p:nvGrpSpPr>
              <p:grpSpPr>
                <a:xfrm>
                  <a:off x="816182" y="7603556"/>
                  <a:ext cx="2841415" cy="3380977"/>
                  <a:chOff x="816182" y="7054371"/>
                  <a:chExt cx="2841415" cy="3380977"/>
                </a:xfrm>
              </p:grpSpPr>
              <p:sp>
                <p:nvSpPr>
                  <p:cNvPr id="61" name="Rectangle: Rounded Corners 60">
                    <a:extLst>
                      <a:ext uri="{FF2B5EF4-FFF2-40B4-BE49-F238E27FC236}">
                        <a16:creationId xmlns:a16="http://schemas.microsoft.com/office/drawing/2014/main" id="{68253FFF-229D-8AD6-65F2-C051D3908996}"/>
                      </a:ext>
                    </a:extLst>
                  </p:cNvPr>
                  <p:cNvSpPr/>
                  <p:nvPr/>
                </p:nvSpPr>
                <p:spPr>
                  <a:xfrm>
                    <a:off x="816182" y="7054371"/>
                    <a:ext cx="2841415" cy="3380977"/>
                  </a:xfrm>
                  <a:prstGeom prst="roundRect">
                    <a:avLst>
                      <a:gd name="adj" fmla="val 10231"/>
                    </a:avLst>
                  </a:prstGeom>
                  <a:solidFill>
                    <a:schemeClr val="accent6">
                      <a:lumMod val="20000"/>
                      <a:lumOff val="80000"/>
                      <a:alpha val="95000"/>
                    </a:schemeClr>
                  </a:solidFill>
                  <a:ln>
                    <a:solidFill>
                      <a:schemeClr val="accent6">
                        <a:lumMod val="50000"/>
                      </a:schemeClr>
                    </a:solidFill>
                  </a:ln>
                  <a:effectLst>
                    <a:softEdge rad="31750"/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vi-VN" sz="1000">
                      <a:solidFill>
                        <a:sysClr val="windowText" lastClr="000000"/>
                      </a:solidFill>
                      <a:latin typeface="#9Slide02 Noi dung rat dai" panose="02000000000000000000" pitchFamily="2" charset="0"/>
                      <a:ea typeface="#9Slide02 Noi dung rat dai" panose="02000000000000000000" pitchFamily="2" charset="0"/>
                    </a:endParaRPr>
                  </a:p>
                </p:txBody>
              </p:sp>
              <p:sp>
                <p:nvSpPr>
                  <p:cNvPr id="3" name="Rectangle: Rounded Corners 2">
                    <a:extLst>
                      <a:ext uri="{FF2B5EF4-FFF2-40B4-BE49-F238E27FC236}">
                        <a16:creationId xmlns:a16="http://schemas.microsoft.com/office/drawing/2014/main" id="{FFCC4C2F-C541-EF39-B382-EC6D94F7818F}"/>
                      </a:ext>
                    </a:extLst>
                  </p:cNvPr>
                  <p:cNvSpPr/>
                  <p:nvPr/>
                </p:nvSpPr>
                <p:spPr>
                  <a:xfrm>
                    <a:off x="1184189" y="7074900"/>
                    <a:ext cx="2060428" cy="285864"/>
                  </a:xfrm>
                  <a:prstGeom prst="round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>
                      <a:buNone/>
                    </a:pPr>
                    <a:r>
                      <a:rPr lang="en-US" sz="1100" b="1">
                        <a:solidFill>
                          <a:schemeClr val="accent6">
                            <a:lumMod val="50000"/>
                          </a:schemeClr>
                        </a:solidFill>
                        <a:latin typeface="#9Slide01 Tieu de ngan" panose="00000800000000000000" pitchFamily="2" charset="0"/>
                      </a:rPr>
                      <a:t>3.1 Đối tượng nghiên cứu</a:t>
                    </a:r>
                  </a:p>
                </p:txBody>
              </p:sp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C8DBE104-A8CB-00C1-AE48-40F4A1376FF9}"/>
                      </a:ext>
                    </a:extLst>
                  </p:cNvPr>
                  <p:cNvSpPr txBox="1"/>
                  <p:nvPr/>
                </p:nvSpPr>
                <p:spPr>
                  <a:xfrm>
                    <a:off x="1131143" y="7421103"/>
                    <a:ext cx="2211495" cy="40011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sz="1000">
                        <a:solidFill>
                          <a:sysClr val="windowText" lastClr="000000"/>
                        </a:solidFill>
                        <a:latin typeface="#9Slide02 Noi dung rat dai" panose="02000000000000000000" pitchFamily="2" charset="0"/>
                        <a:ea typeface="#9Slide02 Noi dung rat dai" panose="02000000000000000000" pitchFamily="2" charset="0"/>
                      </a:rPr>
                      <a:t>Các yếu tố ảnh hưởng đến ý định mua sản phẩm xanh </a:t>
                    </a:r>
                    <a:endParaRPr lang="vi-VN" sz="1000">
                      <a:solidFill>
                        <a:sysClr val="windowText" lastClr="000000"/>
                      </a:solidFill>
                      <a:latin typeface="#9Slide02 Noi dung rat dai" panose="02000000000000000000" pitchFamily="2" charset="0"/>
                      <a:ea typeface="#9Slide02 Noi dung rat dai" panose="02000000000000000000" pitchFamily="2" charset="0"/>
                    </a:endParaRPr>
                  </a:p>
                </p:txBody>
              </p:sp>
              <p:sp>
                <p:nvSpPr>
                  <p:cNvPr id="27" name="Rectangle: Rounded Corners 26">
                    <a:extLst>
                      <a:ext uri="{FF2B5EF4-FFF2-40B4-BE49-F238E27FC236}">
                        <a16:creationId xmlns:a16="http://schemas.microsoft.com/office/drawing/2014/main" id="{15710A84-D0ED-AC81-97BE-EC652051FDCA}"/>
                      </a:ext>
                    </a:extLst>
                  </p:cNvPr>
                  <p:cNvSpPr/>
                  <p:nvPr/>
                </p:nvSpPr>
                <p:spPr>
                  <a:xfrm>
                    <a:off x="1056152" y="7821213"/>
                    <a:ext cx="943047" cy="285864"/>
                  </a:xfrm>
                  <a:prstGeom prst="round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r">
                      <a:buNone/>
                    </a:pPr>
                    <a:r>
                      <a:rPr lang="en-US" sz="1100" b="1">
                        <a:solidFill>
                          <a:schemeClr val="accent6">
                            <a:lumMod val="50000"/>
                          </a:schemeClr>
                        </a:solidFill>
                        <a:latin typeface="#9Slide01 Tieu de ngan" panose="00000800000000000000" pitchFamily="2" charset="0"/>
                      </a:rPr>
                      <a:t>Dữ liệu</a:t>
                    </a:r>
                  </a:p>
                </p:txBody>
              </p:sp>
              <p:sp>
                <p:nvSpPr>
                  <p:cNvPr id="39" name="Rectangle: Rounded Corners 38">
                    <a:extLst>
                      <a:ext uri="{FF2B5EF4-FFF2-40B4-BE49-F238E27FC236}">
                        <a16:creationId xmlns:a16="http://schemas.microsoft.com/office/drawing/2014/main" id="{3B9CB22F-4528-5457-ED0B-D5D580AC3FA6}"/>
                      </a:ext>
                    </a:extLst>
                  </p:cNvPr>
                  <p:cNvSpPr/>
                  <p:nvPr/>
                </p:nvSpPr>
                <p:spPr>
                  <a:xfrm>
                    <a:off x="2114508" y="7821213"/>
                    <a:ext cx="1413133" cy="285864"/>
                  </a:xfrm>
                  <a:prstGeom prst="round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r">
                      <a:buNone/>
                    </a:pPr>
                    <a:r>
                      <a:rPr lang="en-US" sz="1100" b="1">
                        <a:solidFill>
                          <a:schemeClr val="accent6">
                            <a:lumMod val="50000"/>
                          </a:schemeClr>
                        </a:solidFill>
                        <a:latin typeface="#9Slide01 Tieu de ngan" panose="00000800000000000000" pitchFamily="2" charset="0"/>
                      </a:rPr>
                      <a:t>Phương pháp</a:t>
                    </a:r>
                  </a:p>
                </p:txBody>
              </p:sp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51CC2BAC-B453-50DF-4DDB-4CD89B6CE3E6}"/>
                      </a:ext>
                    </a:extLst>
                  </p:cNvPr>
                  <p:cNvSpPr txBox="1"/>
                  <p:nvPr/>
                </p:nvSpPr>
                <p:spPr>
                  <a:xfrm>
                    <a:off x="981881" y="8094932"/>
                    <a:ext cx="1209929" cy="86177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vi-VN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#9Slide01 Tieu de ngan" panose="00000800000000000000" pitchFamily="2" charset="0"/>
                        <a:ea typeface="#9Slide02 Noi dung rat dai" panose="02000000000000000000" pitchFamily="2" charset="0"/>
                      </a:rPr>
                      <a:t>738</a:t>
                    </a:r>
                    <a:r>
                      <a:rPr lang="vi-VN" sz="1000">
                        <a:latin typeface="#9Slide02 Noi dung rat dai" panose="02000000000000000000" pitchFamily="2" charset="0"/>
                        <a:ea typeface="#9Slide02 Noi dung rat dai" panose="02000000000000000000" pitchFamily="2" charset="0"/>
                      </a:rPr>
                      <a:t> người tiêu dùng đa dạng về độ tuổi và nghề nghiệp </a:t>
                    </a:r>
                    <a:br>
                      <a:rPr lang="vi-VN" sz="1000">
                        <a:latin typeface="#9Slide02 Noi dung rat dai" panose="02000000000000000000" pitchFamily="2" charset="0"/>
                        <a:ea typeface="#9Slide02 Noi dung rat dai" panose="02000000000000000000" pitchFamily="2" charset="0"/>
                      </a:rPr>
                    </a:br>
                    <a:endParaRPr lang="vi-VN" sz="1000">
                      <a:latin typeface="#9Slide02 Noi dung rat dai" panose="02000000000000000000" pitchFamily="2" charset="0"/>
                      <a:ea typeface="#9Slide02 Noi dung rat dai" panose="02000000000000000000" pitchFamily="2" charset="0"/>
                    </a:endParaRPr>
                  </a:p>
                </p:txBody>
              </p:sp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6D5527B1-6FBA-FB8D-3A01-10A04FCC940F}"/>
                      </a:ext>
                    </a:extLst>
                  </p:cNvPr>
                  <p:cNvSpPr txBox="1"/>
                  <p:nvPr/>
                </p:nvSpPr>
                <p:spPr>
                  <a:xfrm>
                    <a:off x="2310122" y="8190862"/>
                    <a:ext cx="1209929" cy="553998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sz="1000" b="1">
                        <a:solidFill>
                          <a:schemeClr val="accent6">
                            <a:lumMod val="50000"/>
                          </a:schemeClr>
                        </a:solidFill>
                        <a:latin typeface="#9Slide02 Noi dung rat dai" panose="02000000000000000000" pitchFamily="2" charset="0"/>
                        <a:ea typeface="#9Slide02 Noi dung rat dai" panose="02000000000000000000" pitchFamily="2" charset="0"/>
                      </a:rPr>
                      <a:t>Định lượng</a:t>
                    </a:r>
                  </a:p>
                  <a:p>
                    <a:pPr algn="ctr"/>
                    <a:r>
                      <a:rPr lang="en-US" sz="1000">
                        <a:latin typeface="#9Slide02 Noi dung rat dai" panose="02000000000000000000" pitchFamily="2" charset="0"/>
                        <a:ea typeface="#9Slide02 Noi dung rat dai" panose="02000000000000000000" pitchFamily="2" charset="0"/>
                      </a:rPr>
                      <a:t>(Dữ liệu sơ cấp)</a:t>
                    </a:r>
                    <a:r>
                      <a:rPr lang="vi-VN" sz="1000">
                        <a:latin typeface="#9Slide02 Noi dung rat dai" panose="02000000000000000000" pitchFamily="2" charset="0"/>
                        <a:ea typeface="#9Slide02 Noi dung rat dai" panose="02000000000000000000" pitchFamily="2" charset="0"/>
                      </a:rPr>
                      <a:t/>
                    </a:r>
                    <a:br>
                      <a:rPr lang="vi-VN" sz="1000">
                        <a:latin typeface="#9Slide02 Noi dung rat dai" panose="02000000000000000000" pitchFamily="2" charset="0"/>
                        <a:ea typeface="#9Slide02 Noi dung rat dai" panose="02000000000000000000" pitchFamily="2" charset="0"/>
                      </a:rPr>
                    </a:br>
                    <a:endParaRPr lang="vi-VN" sz="1000">
                      <a:latin typeface="#9Slide02 Noi dung rat dai" panose="02000000000000000000" pitchFamily="2" charset="0"/>
                      <a:ea typeface="#9Slide02 Noi dung rat dai" panose="02000000000000000000" pitchFamily="2" charset="0"/>
                    </a:endParaRPr>
                  </a:p>
                </p:txBody>
              </p:sp>
              <p:sp>
                <p:nvSpPr>
                  <p:cNvPr id="44" name="Rectangle: Rounded Corners 43">
                    <a:extLst>
                      <a:ext uri="{FF2B5EF4-FFF2-40B4-BE49-F238E27FC236}">
                        <a16:creationId xmlns:a16="http://schemas.microsoft.com/office/drawing/2014/main" id="{76097611-9C3F-094C-0C74-A9384BAF88B9}"/>
                      </a:ext>
                    </a:extLst>
                  </p:cNvPr>
                  <p:cNvSpPr/>
                  <p:nvPr/>
                </p:nvSpPr>
                <p:spPr>
                  <a:xfrm>
                    <a:off x="1101065" y="8886973"/>
                    <a:ext cx="2211496" cy="285864"/>
                  </a:xfrm>
                  <a:prstGeom prst="round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buNone/>
                    </a:pPr>
                    <a:r>
                      <a:rPr lang="en-US" sz="1100" b="1">
                        <a:solidFill>
                          <a:schemeClr val="accent6">
                            <a:lumMod val="50000"/>
                          </a:schemeClr>
                        </a:solidFill>
                        <a:latin typeface="#9Slide01 Tieu de ngan" panose="00000800000000000000" pitchFamily="2" charset="0"/>
                      </a:rPr>
                      <a:t>3.2 Phương pháp phân tích</a:t>
                    </a:r>
                  </a:p>
                </p:txBody>
              </p:sp>
              <p:pic>
                <p:nvPicPr>
                  <p:cNvPr id="46" name="Picture 45">
                    <a:extLst>
                      <a:ext uri="{FF2B5EF4-FFF2-40B4-BE49-F238E27FC236}">
                        <a16:creationId xmlns:a16="http://schemas.microsoft.com/office/drawing/2014/main" id="{73604D42-0E6D-B005-992D-B4320A68771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3"/>
                  <a:stretch>
                    <a:fillRect/>
                  </a:stretch>
                </p:blipFill>
                <p:spPr>
                  <a:xfrm>
                    <a:off x="905184" y="9244786"/>
                    <a:ext cx="375803" cy="349210"/>
                  </a:xfrm>
                  <a:prstGeom prst="rect">
                    <a:avLst/>
                  </a:prstGeom>
                </p:spPr>
              </p:pic>
              <p:pic>
                <p:nvPicPr>
                  <p:cNvPr id="53" name="Picture 52">
                    <a:extLst>
                      <a:ext uri="{FF2B5EF4-FFF2-40B4-BE49-F238E27FC236}">
                        <a16:creationId xmlns:a16="http://schemas.microsoft.com/office/drawing/2014/main" id="{9C9F123D-3C08-8F70-D93B-148994BFA41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2114508" y="9244786"/>
                    <a:ext cx="373347" cy="373347"/>
                  </a:xfrm>
                  <a:prstGeom prst="rect">
                    <a:avLst/>
                  </a:prstGeom>
                </p:spPr>
              </p:pic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EF284D3A-2BCB-3D4D-3D79-D2C23CA78D34}"/>
                      </a:ext>
                    </a:extLst>
                  </p:cNvPr>
                  <p:cNvSpPr txBox="1"/>
                  <p:nvPr/>
                </p:nvSpPr>
                <p:spPr>
                  <a:xfrm>
                    <a:off x="1256636" y="9302497"/>
                    <a:ext cx="626026" cy="26161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just"/>
                    <a:r>
                      <a:rPr lang="vi-VN" sz="1100" b="1">
                        <a:latin typeface="#9Slide02 Noi dung rat dai" panose="02000000000000000000" pitchFamily="2" charset="0"/>
                        <a:ea typeface="#9Slide02 Noi dung rat dai" panose="02000000000000000000" pitchFamily="2" charset="0"/>
                      </a:rPr>
                      <a:t>RStudio</a:t>
                    </a:r>
                  </a:p>
                </p:txBody>
              </p:sp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BC314AD7-2CC2-3FAB-D0D1-30B59CDDF09F}"/>
                      </a:ext>
                    </a:extLst>
                  </p:cNvPr>
                  <p:cNvSpPr txBox="1"/>
                  <p:nvPr/>
                </p:nvSpPr>
                <p:spPr>
                  <a:xfrm>
                    <a:off x="1117602" y="9619296"/>
                    <a:ext cx="1186508" cy="646331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>
                      <a:lnSpc>
                        <a:spcPct val="90000"/>
                      </a:lnSpc>
                    </a:pPr>
                    <a:r>
                      <a:rPr lang="en-US" sz="1000">
                        <a:latin typeface="#9Slide02 Noi dung rat dai" panose="02000000000000000000" pitchFamily="2" charset="0"/>
                        <a:ea typeface="#9Slide02 Noi dung rat dai" panose="02000000000000000000" pitchFamily="2" charset="0"/>
                      </a:rPr>
                      <a:t>Thống kế mô tả</a:t>
                    </a:r>
                  </a:p>
                  <a:p>
                    <a:pPr>
                      <a:lnSpc>
                        <a:spcPct val="90000"/>
                      </a:lnSpc>
                    </a:pPr>
                    <a:endParaRPr lang="en-US" sz="1000">
                      <a:latin typeface="#9Slide02 Noi dung rat dai" panose="02000000000000000000" pitchFamily="2" charset="0"/>
                      <a:ea typeface="#9Slide02 Noi dung rat dai" panose="02000000000000000000" pitchFamily="2" charset="0"/>
                    </a:endParaRPr>
                  </a:p>
                  <a:p>
                    <a:pPr>
                      <a:lnSpc>
                        <a:spcPct val="90000"/>
                      </a:lnSpc>
                    </a:pPr>
                    <a:r>
                      <a:rPr lang="en-US" sz="1000">
                        <a:latin typeface="#9Slide02 Noi dung rat dai" panose="02000000000000000000" pitchFamily="2" charset="0"/>
                        <a:ea typeface="#9Slide02 Noi dung rat dai" panose="02000000000000000000" pitchFamily="2" charset="0"/>
                      </a:rPr>
                      <a:t>Đánh giá tấn suất, độ phân phối mẫu</a:t>
                    </a:r>
                    <a:endParaRPr lang="vi-VN" sz="1000">
                      <a:latin typeface="#9Slide02 Noi dung rat dai" panose="02000000000000000000" pitchFamily="2" charset="0"/>
                      <a:ea typeface="#9Slide02 Noi dung rat dai" panose="02000000000000000000" pitchFamily="2" charset="0"/>
                    </a:endParaRPr>
                  </a:p>
                </p:txBody>
              </p:sp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FCDCD9F7-691D-8BC7-A616-D05CB947E960}"/>
                      </a:ext>
                    </a:extLst>
                  </p:cNvPr>
                  <p:cNvSpPr txBox="1"/>
                  <p:nvPr/>
                </p:nvSpPr>
                <p:spPr>
                  <a:xfrm>
                    <a:off x="2502694" y="9288586"/>
                    <a:ext cx="843039" cy="26161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just"/>
                    <a:r>
                      <a:rPr lang="en-US" sz="1100" b="1">
                        <a:latin typeface="#9Slide02 Noi dung rat dai" panose="02000000000000000000" pitchFamily="2" charset="0"/>
                        <a:ea typeface="#9Slide02 Noi dung rat dai" panose="02000000000000000000" pitchFamily="2" charset="0"/>
                      </a:rPr>
                      <a:t>SmartPLS 4</a:t>
                    </a:r>
                    <a:endParaRPr lang="vi-VN" sz="1100" b="1">
                      <a:latin typeface="#9Slide02 Noi dung rat dai" panose="02000000000000000000" pitchFamily="2" charset="0"/>
                      <a:ea typeface="#9Slide02 Noi dung rat dai" panose="02000000000000000000" pitchFamily="2" charset="0"/>
                    </a:endParaRPr>
                  </a:p>
                </p:txBody>
              </p:sp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83BEA336-A630-0AB8-04F2-48AC060498FC}"/>
                      </a:ext>
                    </a:extLst>
                  </p:cNvPr>
                  <p:cNvSpPr txBox="1"/>
                  <p:nvPr/>
                </p:nvSpPr>
                <p:spPr>
                  <a:xfrm>
                    <a:off x="2356194" y="9574043"/>
                    <a:ext cx="1186508" cy="70788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just"/>
                    <a:r>
                      <a:rPr lang="en-US" sz="1000">
                        <a:latin typeface="#9Slide02 Noi dung rat dai" panose="02000000000000000000" pitchFamily="2" charset="0"/>
                        <a:ea typeface="#9Slide02 Noi dung rat dai" panose="02000000000000000000" pitchFamily="2" charset="0"/>
                      </a:rPr>
                      <a:t>Đánh giá mô hình đo lường</a:t>
                    </a:r>
                  </a:p>
                  <a:p>
                    <a:pPr algn="just"/>
                    <a:r>
                      <a:rPr lang="en-US" sz="1000">
                        <a:latin typeface="#9Slide02 Noi dung rat dai" panose="02000000000000000000" pitchFamily="2" charset="0"/>
                        <a:ea typeface="#9Slide02 Noi dung rat dai" panose="02000000000000000000" pitchFamily="2" charset="0"/>
                      </a:rPr>
                      <a:t>Kiểm định mô hình cấu trúc PLS-SEM</a:t>
                    </a:r>
                    <a:endParaRPr lang="vi-VN" sz="1000">
                      <a:latin typeface="#9Slide02 Noi dung rat dai" panose="02000000000000000000" pitchFamily="2" charset="0"/>
                      <a:ea typeface="#9Slide02 Noi dung rat dai" panose="02000000000000000000" pitchFamily="2" charset="0"/>
                    </a:endParaRPr>
                  </a:p>
                </p:txBody>
              </p:sp>
              <p:pic>
                <p:nvPicPr>
                  <p:cNvPr id="65" name="Picture 64">
                    <a:extLst>
                      <a:ext uri="{FF2B5EF4-FFF2-40B4-BE49-F238E27FC236}">
                        <a16:creationId xmlns:a16="http://schemas.microsoft.com/office/drawing/2014/main" id="{91AB32A7-B0AB-E3DF-F875-61986825BF5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5"/>
                  <a:stretch>
                    <a:fillRect/>
                  </a:stretch>
                </p:blipFill>
                <p:spPr>
                  <a:xfrm>
                    <a:off x="1028574" y="9667808"/>
                    <a:ext cx="129021" cy="129021"/>
                  </a:xfrm>
                  <a:prstGeom prst="rect">
                    <a:avLst/>
                  </a:prstGeom>
                </p:spPr>
              </p:pic>
              <p:pic>
                <p:nvPicPr>
                  <p:cNvPr id="66" name="Picture 65">
                    <a:extLst>
                      <a:ext uri="{FF2B5EF4-FFF2-40B4-BE49-F238E27FC236}">
                        <a16:creationId xmlns:a16="http://schemas.microsoft.com/office/drawing/2014/main" id="{54D652A7-FAAA-ED4A-1F25-73481109D0D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5"/>
                  <a:stretch>
                    <a:fillRect/>
                  </a:stretch>
                </p:blipFill>
                <p:spPr>
                  <a:xfrm>
                    <a:off x="2243285" y="9675064"/>
                    <a:ext cx="129021" cy="129021"/>
                  </a:xfrm>
                  <a:prstGeom prst="rect">
                    <a:avLst/>
                  </a:prstGeom>
                </p:spPr>
              </p:pic>
              <p:pic>
                <p:nvPicPr>
                  <p:cNvPr id="67" name="Picture 66">
                    <a:extLst>
                      <a:ext uri="{FF2B5EF4-FFF2-40B4-BE49-F238E27FC236}">
                        <a16:creationId xmlns:a16="http://schemas.microsoft.com/office/drawing/2014/main" id="{E61C52CA-CB8C-0893-55A7-546414E3E2C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5"/>
                  <a:stretch>
                    <a:fillRect/>
                  </a:stretch>
                </p:blipFill>
                <p:spPr>
                  <a:xfrm>
                    <a:off x="2251634" y="9938027"/>
                    <a:ext cx="129021" cy="129021"/>
                  </a:xfrm>
                  <a:prstGeom prst="rect">
                    <a:avLst/>
                  </a:prstGeom>
                </p:spPr>
              </p:pic>
              <p:pic>
                <p:nvPicPr>
                  <p:cNvPr id="68" name="Picture 67">
                    <a:extLst>
                      <a:ext uri="{FF2B5EF4-FFF2-40B4-BE49-F238E27FC236}">
                        <a16:creationId xmlns:a16="http://schemas.microsoft.com/office/drawing/2014/main" id="{3631D75B-4167-99D4-0214-04D8F1D82EE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5"/>
                  <a:stretch>
                    <a:fillRect/>
                  </a:stretch>
                </p:blipFill>
                <p:spPr>
                  <a:xfrm>
                    <a:off x="1027116" y="9932347"/>
                    <a:ext cx="129021" cy="129021"/>
                  </a:xfrm>
                  <a:prstGeom prst="rect">
                    <a:avLst/>
                  </a:prstGeom>
                </p:spPr>
              </p:pic>
            </p:grpSp>
          </p:grpSp>
          <p:pic>
            <p:nvPicPr>
              <p:cNvPr id="119" name="Picture 118">
                <a:extLst>
                  <a:ext uri="{FF2B5EF4-FFF2-40B4-BE49-F238E27FC236}">
                    <a16:creationId xmlns:a16="http://schemas.microsoft.com/office/drawing/2014/main" id="{F2330560-934D-5DAB-4A71-DF66413C0F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226228" y="8220101"/>
                <a:ext cx="213233" cy="213233"/>
              </a:xfrm>
              <a:prstGeom prst="rect">
                <a:avLst/>
              </a:prstGeom>
            </p:spPr>
          </p:pic>
        </p:grpSp>
        <p:pic>
          <p:nvPicPr>
            <p:cNvPr id="132" name="Picture 131">
              <a:extLst>
                <a:ext uri="{FF2B5EF4-FFF2-40B4-BE49-F238E27FC236}">
                  <a16:creationId xmlns:a16="http://schemas.microsoft.com/office/drawing/2014/main" id="{65F1F4F2-7D47-3E40-35A0-47FCB79D8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950084" y="7145874"/>
              <a:ext cx="351350" cy="275547"/>
            </a:xfrm>
            <a:prstGeom prst="rect">
              <a:avLst/>
            </a:prstGeom>
          </p:spPr>
        </p:pic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A0981A23-C17C-B72D-25D8-0394D9E380CB}"/>
              </a:ext>
            </a:extLst>
          </p:cNvPr>
          <p:cNvGrpSpPr/>
          <p:nvPr/>
        </p:nvGrpSpPr>
        <p:grpSpPr>
          <a:xfrm>
            <a:off x="3871928" y="2799713"/>
            <a:ext cx="2547301" cy="420310"/>
            <a:chOff x="3874826" y="2806951"/>
            <a:chExt cx="2547301" cy="420310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6DE3ADE2-959A-D082-9EDE-E75A2FC1DD6D}"/>
                </a:ext>
              </a:extLst>
            </p:cNvPr>
            <p:cNvSpPr/>
            <p:nvPr/>
          </p:nvSpPr>
          <p:spPr>
            <a:xfrm>
              <a:off x="3874826" y="2823315"/>
              <a:ext cx="2547301" cy="403946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1300" b="1">
                  <a:latin typeface="#9Slide01 Tieu de ngan" panose="00000800000000000000" pitchFamily="2" charset="0"/>
                </a:rPr>
                <a:t>4</a:t>
              </a:r>
              <a:r>
                <a:rPr lang="vi-VN" sz="1300" b="1">
                  <a:latin typeface="#9Slide01 Tieu de ngan" panose="00000800000000000000" pitchFamily="2" charset="0"/>
                </a:rPr>
                <a:t>. </a:t>
              </a:r>
              <a:r>
                <a:rPr lang="en-US" sz="1300" b="1">
                  <a:latin typeface="#9Slide01 Tieu de ngan" panose="00000800000000000000" pitchFamily="2" charset="0"/>
                </a:rPr>
                <a:t>Mô hình Nghiên cứu</a:t>
              </a:r>
              <a:endParaRPr lang="vi-VN" sz="1300">
                <a:latin typeface="#9Slide01 Tieu de ngan" panose="00000800000000000000" pitchFamily="2" charset="0"/>
              </a:endParaRPr>
            </a:p>
          </p:txBody>
        </p:sp>
        <p:pic>
          <p:nvPicPr>
            <p:cNvPr id="133" name="Picture 132">
              <a:extLst>
                <a:ext uri="{FF2B5EF4-FFF2-40B4-BE49-F238E27FC236}">
                  <a16:creationId xmlns:a16="http://schemas.microsoft.com/office/drawing/2014/main" id="{B7C7E11C-8225-7EFD-C999-D98869050E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3967478" y="2806951"/>
              <a:ext cx="395504" cy="393922"/>
            </a:xfrm>
            <a:prstGeom prst="rect">
              <a:avLst/>
            </a:prstGeom>
          </p:spPr>
        </p:pic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74847C18-9108-4E00-E6B1-35E26C4178F9}"/>
              </a:ext>
            </a:extLst>
          </p:cNvPr>
          <p:cNvGrpSpPr/>
          <p:nvPr/>
        </p:nvGrpSpPr>
        <p:grpSpPr>
          <a:xfrm>
            <a:off x="5082445" y="5265591"/>
            <a:ext cx="2547301" cy="403946"/>
            <a:chOff x="5082445" y="5265591"/>
            <a:chExt cx="2547301" cy="403946"/>
          </a:xfrm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5FB72075-5F9D-3399-7319-6F2128F122D3}"/>
                </a:ext>
              </a:extLst>
            </p:cNvPr>
            <p:cNvSpPr/>
            <p:nvPr/>
          </p:nvSpPr>
          <p:spPr>
            <a:xfrm>
              <a:off x="5082445" y="5265591"/>
              <a:ext cx="2547301" cy="403946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1300" b="1">
                  <a:latin typeface="#9Slide01 Tieu de ngan" panose="00000800000000000000" pitchFamily="2" charset="0"/>
                </a:rPr>
                <a:t>5</a:t>
              </a:r>
              <a:r>
                <a:rPr lang="vi-VN" sz="1300" b="1">
                  <a:latin typeface="#9Slide01 Tieu de ngan" panose="00000800000000000000" pitchFamily="2" charset="0"/>
                </a:rPr>
                <a:t>. </a:t>
              </a:r>
              <a:r>
                <a:rPr lang="en-US" sz="1300" b="1">
                  <a:latin typeface="#9Slide01 Tieu de ngan" panose="00000800000000000000" pitchFamily="2" charset="0"/>
                </a:rPr>
                <a:t>Kết quả và Thảo luận</a:t>
              </a:r>
              <a:endParaRPr lang="vi-VN" sz="1300">
                <a:latin typeface="#9Slide01 Tieu de ngan" panose="00000800000000000000" pitchFamily="2" charset="0"/>
              </a:endParaRPr>
            </a:p>
          </p:txBody>
        </p:sp>
        <p:pic>
          <p:nvPicPr>
            <p:cNvPr id="134" name="Picture 133">
              <a:extLst>
                <a:ext uri="{FF2B5EF4-FFF2-40B4-BE49-F238E27FC236}">
                  <a16:creationId xmlns:a16="http://schemas.microsoft.com/office/drawing/2014/main" id="{3972F567-B31C-04BB-7C0F-E7F3535956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181600" y="5316065"/>
              <a:ext cx="333883" cy="302316"/>
            </a:xfrm>
            <a:prstGeom prst="rect">
              <a:avLst/>
            </a:prstGeom>
          </p:spPr>
        </p:pic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7CF452A5-1516-DA2C-A5B1-4A62597F5023}"/>
              </a:ext>
            </a:extLst>
          </p:cNvPr>
          <p:cNvGrpSpPr/>
          <p:nvPr/>
        </p:nvGrpSpPr>
        <p:grpSpPr>
          <a:xfrm>
            <a:off x="4007099" y="7379336"/>
            <a:ext cx="4558347" cy="1394232"/>
            <a:chOff x="4007099" y="7317888"/>
            <a:chExt cx="4558347" cy="1394232"/>
          </a:xfrm>
        </p:grpSpPr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27FCC292-E5D7-8E87-AF3B-3C668DE1D25B}"/>
                </a:ext>
              </a:extLst>
            </p:cNvPr>
            <p:cNvGrpSpPr/>
            <p:nvPr/>
          </p:nvGrpSpPr>
          <p:grpSpPr>
            <a:xfrm>
              <a:off x="4007099" y="7344414"/>
              <a:ext cx="4558347" cy="1367706"/>
              <a:chOff x="4002574" y="7299336"/>
              <a:chExt cx="4558347" cy="1367706"/>
            </a:xfrm>
          </p:grpSpPr>
          <p:grpSp>
            <p:nvGrpSpPr>
              <p:cNvPr id="107" name="Group 106">
                <a:extLst>
                  <a:ext uri="{FF2B5EF4-FFF2-40B4-BE49-F238E27FC236}">
                    <a16:creationId xmlns:a16="http://schemas.microsoft.com/office/drawing/2014/main" id="{A9896A73-8FCF-8A1F-2E80-2E7FB79C5336}"/>
                  </a:ext>
                </a:extLst>
              </p:cNvPr>
              <p:cNvGrpSpPr/>
              <p:nvPr/>
            </p:nvGrpSpPr>
            <p:grpSpPr>
              <a:xfrm>
                <a:off x="4002574" y="7569058"/>
                <a:ext cx="4558347" cy="1097984"/>
                <a:chOff x="3780043" y="5945323"/>
                <a:chExt cx="4204132" cy="1691541"/>
              </a:xfrm>
            </p:grpSpPr>
            <p:sp>
              <p:nvSpPr>
                <p:cNvPr id="108" name="Rectangle: Rounded Corners 107">
                  <a:extLst>
                    <a:ext uri="{FF2B5EF4-FFF2-40B4-BE49-F238E27FC236}">
                      <a16:creationId xmlns:a16="http://schemas.microsoft.com/office/drawing/2014/main" id="{9494F9A9-4549-9FB1-6905-71923F7FA986}"/>
                    </a:ext>
                  </a:extLst>
                </p:cNvPr>
                <p:cNvSpPr/>
                <p:nvPr/>
              </p:nvSpPr>
              <p:spPr>
                <a:xfrm>
                  <a:off x="3780043" y="5945323"/>
                  <a:ext cx="4204132" cy="1691541"/>
                </a:xfrm>
                <a:prstGeom prst="roundRect">
                  <a:avLst>
                    <a:gd name="adj" fmla="val 10231"/>
                  </a:avLst>
                </a:prstGeom>
                <a:solidFill>
                  <a:schemeClr val="accent6">
                    <a:lumMod val="20000"/>
                    <a:lumOff val="80000"/>
                    <a:alpha val="95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  <a:effectLst>
                  <a:softEdge rad="31750"/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:endParaRPr lang="vi-VN" sz="1000">
                    <a:solidFill>
                      <a:sysClr val="windowText" lastClr="000000"/>
                    </a:solidFill>
                    <a:latin typeface="#9Slide02 Noi dung rat dai" panose="02000000000000000000" pitchFamily="2" charset="0"/>
                    <a:ea typeface="#9Slide02 Noi dung rat dai" panose="02000000000000000000" pitchFamily="2" charset="0"/>
                  </a:endParaRPr>
                </a:p>
              </p:txBody>
            </p:sp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DFACB6C0-5620-8439-6F01-B4410FB5BB92}"/>
                    </a:ext>
                  </a:extLst>
                </p:cNvPr>
                <p:cNvSpPr txBox="1"/>
                <p:nvPr/>
              </p:nvSpPr>
              <p:spPr>
                <a:xfrm>
                  <a:off x="3886877" y="6196015"/>
                  <a:ext cx="3953482" cy="132763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vi-VN" sz="1000" b="1">
                      <a:latin typeface="#9Slide02 Noi dung rat dai" panose="02000000000000000000" pitchFamily="2" charset="0"/>
                      <a:ea typeface="#9Slide02 Noi dung rat dai" panose="02000000000000000000" pitchFamily="2" charset="0"/>
                    </a:rPr>
                    <a:t>Lý thuyết:</a:t>
                  </a:r>
                  <a:r>
                    <a:rPr lang="vi-VN" sz="1000">
                      <a:latin typeface="#9Slide02 Noi dung rat dai" panose="02000000000000000000" pitchFamily="2" charset="0"/>
                      <a:ea typeface="#9Slide02 Noi dung rat dai" panose="02000000000000000000" pitchFamily="2" charset="0"/>
                    </a:rPr>
                    <a:t> Giải mã thành công mô hình Đa tiến trình (Dual-process) trên TMĐT. Làm rõ sự phân ly giữa năng lực công nghệ và kiến thức chuyên môn của người tiêu dùng.</a:t>
                  </a:r>
                </a:p>
                <a:p>
                  <a:r>
                    <a:rPr lang="vi-VN" sz="1000" b="1">
                      <a:latin typeface="#9Slide02 Noi dung rat dai" panose="02000000000000000000" pitchFamily="2" charset="0"/>
                      <a:ea typeface="#9Slide02 Noi dung rat dai" panose="02000000000000000000" pitchFamily="2" charset="0"/>
                    </a:rPr>
                    <a:t>Thực tiễn:</a:t>
                  </a:r>
                  <a:r>
                    <a:rPr lang="vi-VN" sz="1000">
                      <a:latin typeface="#9Slide02 Noi dung rat dai" panose="02000000000000000000" pitchFamily="2" charset="0"/>
                      <a:ea typeface="#9Slide02 Noi dung rat dai" panose="02000000000000000000" pitchFamily="2" charset="0"/>
                    </a:rPr>
                    <a:t> Xác nhận quyền lực dẫn dắt của Kiến thức thuyết phục (PK); chứng minh hoài nghi không phải là rào cản tuyệt đối ngăn chặn hành vi mua.</a:t>
                  </a:r>
                </a:p>
              </p:txBody>
            </p:sp>
          </p:grpSp>
          <p:sp>
            <p:nvSpPr>
              <p:cNvPr id="106" name="Rectangle: Rounded Corners 105">
                <a:extLst>
                  <a:ext uri="{FF2B5EF4-FFF2-40B4-BE49-F238E27FC236}">
                    <a16:creationId xmlns:a16="http://schemas.microsoft.com/office/drawing/2014/main" id="{5A716B4E-97AB-A7C0-5A90-8C684758566A}"/>
                  </a:ext>
                </a:extLst>
              </p:cNvPr>
              <p:cNvSpPr/>
              <p:nvPr/>
            </p:nvSpPr>
            <p:spPr>
              <a:xfrm>
                <a:off x="4767970" y="7299336"/>
                <a:ext cx="2962499" cy="403946"/>
              </a:xfrm>
              <a:prstGeom prst="roundRect">
                <a:avLst/>
              </a:prstGeom>
              <a:solidFill>
                <a:schemeClr val="accent6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US" sz="1300" b="1">
                    <a:latin typeface="#9Slide01 Tieu de ngan" panose="00000800000000000000" pitchFamily="2" charset="0"/>
                  </a:rPr>
                  <a:t>6</a:t>
                </a:r>
                <a:r>
                  <a:rPr lang="vi-VN" sz="1300" b="1">
                    <a:latin typeface="#9Slide01 Tieu de ngan" panose="00000800000000000000" pitchFamily="2" charset="0"/>
                  </a:rPr>
                  <a:t>. </a:t>
                </a:r>
                <a:r>
                  <a:rPr lang="en-US" sz="1300" b="1">
                    <a:latin typeface="#9Slide01 Tieu de ngan" panose="00000800000000000000" pitchFamily="2" charset="0"/>
                  </a:rPr>
                  <a:t>Đóng góp của Nghiên cứu</a:t>
                </a:r>
                <a:endParaRPr lang="vi-VN" sz="1300">
                  <a:latin typeface="#9Slide01 Tieu de ngan" panose="00000800000000000000" pitchFamily="2" charset="0"/>
                </a:endParaRPr>
              </a:p>
            </p:txBody>
          </p:sp>
        </p:grpSp>
        <p:pic>
          <p:nvPicPr>
            <p:cNvPr id="136" name="Picture 135">
              <a:extLst>
                <a:ext uri="{FF2B5EF4-FFF2-40B4-BE49-F238E27FC236}">
                  <a16:creationId xmlns:a16="http://schemas.microsoft.com/office/drawing/2014/main" id="{B831628F-B696-D8A7-4171-5EBC96A352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4768372" y="7317888"/>
              <a:ext cx="457976" cy="391204"/>
            </a:xfrm>
            <a:prstGeom prst="rect">
              <a:avLst/>
            </a:prstGeom>
          </p:spPr>
        </p:pic>
      </p:grpSp>
      <p:pic>
        <p:nvPicPr>
          <p:cNvPr id="137" name="Picture 136">
            <a:extLst>
              <a:ext uri="{FF2B5EF4-FFF2-40B4-BE49-F238E27FC236}">
                <a16:creationId xmlns:a16="http://schemas.microsoft.com/office/drawing/2014/main" id="{9872ED6D-C2DD-3238-AB23-51789E8D3E1F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355953" y="8860400"/>
            <a:ext cx="343622" cy="329719"/>
          </a:xfrm>
          <a:prstGeom prst="rect">
            <a:avLst/>
          </a:prstGeom>
        </p:spPr>
      </p:pic>
      <p:sp>
        <p:nvSpPr>
          <p:cNvPr id="141" name="TextBox 140">
            <a:extLst>
              <a:ext uri="{FF2B5EF4-FFF2-40B4-BE49-F238E27FC236}">
                <a16:creationId xmlns:a16="http://schemas.microsoft.com/office/drawing/2014/main" id="{7A99D9AD-E5EF-DA8F-67DF-14A65D57CA43}"/>
              </a:ext>
            </a:extLst>
          </p:cNvPr>
          <p:cNvSpPr txBox="1"/>
          <p:nvPr/>
        </p:nvSpPr>
        <p:spPr>
          <a:xfrm>
            <a:off x="4084837" y="5995502"/>
            <a:ext cx="102387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1100" b="1">
                <a:effectLst/>
                <a:latin typeface="#9Slide02 Noi dung rat dai" panose="02000000000000000000" pitchFamily="2" charset="0"/>
                <a:ea typeface="#9Slide02 Noi dung rat dai" panose="02000000000000000000" pitchFamily="2" charset="0"/>
              </a:rPr>
              <a:t>Nhận thức tẩy xanh</a:t>
            </a:r>
            <a:r>
              <a:rPr lang="vi-VN" sz="1100">
                <a:effectLst/>
                <a:latin typeface="#9Slide02 Noi dung rat dai" panose="02000000000000000000" pitchFamily="2" charset="0"/>
                <a:ea typeface="#9Slide02 Noi dung rat dai" panose="02000000000000000000" pitchFamily="2" charset="0"/>
              </a:rPr>
              <a:t> và </a:t>
            </a:r>
            <a:r>
              <a:rPr lang="vi-VN" sz="1100" b="1">
                <a:effectLst/>
                <a:latin typeface="#9Slide02 Noi dung rat dai" panose="02000000000000000000" pitchFamily="2" charset="0"/>
                <a:ea typeface="#9Slide02 Noi dung rat dai" panose="02000000000000000000" pitchFamily="2" charset="0"/>
              </a:rPr>
              <a:t>Uy tín nguồn</a:t>
            </a:r>
            <a:r>
              <a:rPr lang="vi-VN" sz="1100">
                <a:effectLst/>
                <a:latin typeface="#9Slide02 Noi dung rat dai" panose="02000000000000000000" pitchFamily="2" charset="0"/>
                <a:ea typeface="#9Slide02 Noi dung rat dai" panose="02000000000000000000" pitchFamily="2" charset="0"/>
              </a:rPr>
              <a:t> tác động mạnh đến cả lý trí và cảm xúc. 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10E85C32-7387-D5EF-24ED-F25D10657D0C}"/>
              </a:ext>
            </a:extLst>
          </p:cNvPr>
          <p:cNvGrpSpPr/>
          <p:nvPr/>
        </p:nvGrpSpPr>
        <p:grpSpPr>
          <a:xfrm>
            <a:off x="698378" y="4428431"/>
            <a:ext cx="2842835" cy="926484"/>
            <a:chOff x="698378" y="4200282"/>
            <a:chExt cx="2842835" cy="926484"/>
          </a:xfrm>
        </p:grpSpPr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CC6FCFBD-30B1-A7D2-EF8C-F2E26038470E}"/>
                </a:ext>
              </a:extLst>
            </p:cNvPr>
            <p:cNvGrpSpPr/>
            <p:nvPr/>
          </p:nvGrpSpPr>
          <p:grpSpPr>
            <a:xfrm>
              <a:off x="698378" y="4344013"/>
              <a:ext cx="2842835" cy="782753"/>
              <a:chOff x="707457" y="4675630"/>
              <a:chExt cx="2842835" cy="782753"/>
            </a:xfrm>
          </p:grpSpPr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598C0B2C-474B-868D-C02D-20D3F5576703}"/>
                  </a:ext>
                </a:extLst>
              </p:cNvPr>
              <p:cNvSpPr/>
              <p:nvPr/>
            </p:nvSpPr>
            <p:spPr>
              <a:xfrm>
                <a:off x="1191902" y="4675630"/>
                <a:ext cx="2358390" cy="782753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  <a:alpha val="95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  <a:effectLst>
                <a:softEdge rad="3175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r>
                  <a:rPr lang="en-US" sz="1000" b="1">
                    <a:solidFill>
                      <a:schemeClr val="accent6">
                        <a:lumMod val="50000"/>
                      </a:schemeClr>
                    </a:solidFill>
                    <a:latin typeface="#9Slide02 Noi dung rat dai" panose="02000000000000000000" pitchFamily="2" charset="0"/>
                    <a:ea typeface="#9Slide02 Noi dung rat dai" panose="02000000000000000000" pitchFamily="2" charset="0"/>
                  </a:rPr>
                  <a:t>Nghiên cứu </a:t>
                </a:r>
                <a:r>
                  <a:rPr lang="vi-VN" sz="1000" b="1">
                    <a:solidFill>
                      <a:schemeClr val="accent6">
                        <a:lumMod val="50000"/>
                      </a:schemeClr>
                    </a:solidFill>
                    <a:latin typeface="#9Slide02 Noi dung rat dai" panose="02000000000000000000" pitchFamily="2" charset="0"/>
                    <a:ea typeface="#9Slide02 Noi dung rat dai" panose="02000000000000000000" pitchFamily="2" charset="0"/>
                  </a:rPr>
                  <a:t>giải mã cơ chế tâm lý và phản ứng của người tiêu dùng để thu hẹp khoảng cách giữa nhận thức và hành vi mua sắm thực tế.</a:t>
                </a:r>
                <a:endParaRPr lang="vi-VN" sz="1000">
                  <a:solidFill>
                    <a:schemeClr val="accent6">
                      <a:lumMod val="50000"/>
                    </a:schemeClr>
                  </a:solidFill>
                  <a:latin typeface="#9Slide02 Noi dung rat dai" panose="02000000000000000000" pitchFamily="2" charset="0"/>
                  <a:ea typeface="#9Slide02 Noi dung rat dai" panose="02000000000000000000" pitchFamily="2" charset="0"/>
                </a:endParaRPr>
              </a:p>
            </p:txBody>
          </p:sp>
          <p:sp>
            <p:nvSpPr>
              <p:cNvPr id="54" name="Arrow: Right 53">
                <a:extLst>
                  <a:ext uri="{FF2B5EF4-FFF2-40B4-BE49-F238E27FC236}">
                    <a16:creationId xmlns:a16="http://schemas.microsoft.com/office/drawing/2014/main" id="{F996688D-42FA-BE73-EF42-4A1882C9ECAA}"/>
                  </a:ext>
                </a:extLst>
              </p:cNvPr>
              <p:cNvSpPr/>
              <p:nvPr/>
            </p:nvSpPr>
            <p:spPr>
              <a:xfrm>
                <a:off x="707457" y="4884773"/>
                <a:ext cx="484400" cy="293251"/>
              </a:xfrm>
              <a:prstGeom prst="rightArrow">
                <a:avLst>
                  <a:gd name="adj1" fmla="val 50000"/>
                  <a:gd name="adj2" fmla="val 61292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 w="38100">
                <a:solidFill>
                  <a:schemeClr val="accent6">
                    <a:lumMod val="50000"/>
                  </a:schemeClr>
                </a:solidFill>
              </a:ln>
              <a:effectLst>
                <a:softEdge rad="1270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/>
              </a:p>
            </p:txBody>
          </p:sp>
        </p:grpSp>
        <p:pic>
          <p:nvPicPr>
            <p:cNvPr id="148" name="Picture 147">
              <a:extLst>
                <a:ext uri="{FF2B5EF4-FFF2-40B4-BE49-F238E27FC236}">
                  <a16:creationId xmlns:a16="http://schemas.microsoft.com/office/drawing/2014/main" id="{D1D12498-8AB1-7F25-7123-D4C0ED8A8D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 rot="176780">
              <a:off x="1060858" y="4200282"/>
              <a:ext cx="324144" cy="302858"/>
            </a:xfrm>
            <a:prstGeom prst="rect">
              <a:avLst/>
            </a:prstGeom>
          </p:spPr>
        </p:pic>
      </p:grpSp>
      <p:pic>
        <p:nvPicPr>
          <p:cNvPr id="149" name="Picture 148">
            <a:extLst>
              <a:ext uri="{FF2B5EF4-FFF2-40B4-BE49-F238E27FC236}">
                <a16:creationId xmlns:a16="http://schemas.microsoft.com/office/drawing/2014/main" id="{C271C4F9-290A-F465-D640-34B4259AD712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11263118">
            <a:off x="3453958" y="8899892"/>
            <a:ext cx="544524" cy="508766"/>
          </a:xfrm>
          <a:prstGeom prst="rect">
            <a:avLst/>
          </a:prstGeom>
        </p:spPr>
      </p:pic>
      <p:pic>
        <p:nvPicPr>
          <p:cNvPr id="150" name="Picture 149">
            <a:extLst>
              <a:ext uri="{FF2B5EF4-FFF2-40B4-BE49-F238E27FC236}">
                <a16:creationId xmlns:a16="http://schemas.microsoft.com/office/drawing/2014/main" id="{5E099CB9-F7F4-621E-8579-FD4FFF441444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165087" y="8869761"/>
            <a:ext cx="551399" cy="578098"/>
          </a:xfrm>
          <a:prstGeom prst="rect">
            <a:avLst/>
          </a:prstGeom>
        </p:spPr>
      </p:pic>
      <p:sp>
        <p:nvSpPr>
          <p:cNvPr id="162" name="TextBox 161">
            <a:extLst>
              <a:ext uri="{FF2B5EF4-FFF2-40B4-BE49-F238E27FC236}">
                <a16:creationId xmlns:a16="http://schemas.microsoft.com/office/drawing/2014/main" id="{4FCFB4E7-9247-80FB-7719-A5EBC9F1BD93}"/>
              </a:ext>
            </a:extLst>
          </p:cNvPr>
          <p:cNvSpPr txBox="1"/>
          <p:nvPr/>
        </p:nvSpPr>
        <p:spPr>
          <a:xfrm>
            <a:off x="5189955" y="5988702"/>
            <a:ext cx="103390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1100" b="1">
                <a:effectLst/>
                <a:latin typeface="#9Slide02 Noi dung rat dai" panose="02000000000000000000" pitchFamily="2" charset="0"/>
                <a:ea typeface="#9Slide02 Noi dung rat dai" panose="02000000000000000000" pitchFamily="2" charset="0"/>
              </a:rPr>
              <a:t>Kiến thức thuyết phục</a:t>
            </a:r>
            <a:r>
              <a:rPr lang="vi-VN" sz="1100">
                <a:effectLst/>
                <a:latin typeface="#9Slide02 Noi dung rat dai" panose="02000000000000000000" pitchFamily="2" charset="0"/>
                <a:ea typeface="#9Slide02 Noi dung rat dai" panose="02000000000000000000" pitchFamily="2" charset="0"/>
              </a:rPr>
              <a:t> tác động</a:t>
            </a:r>
            <a:r>
              <a:rPr lang="vi-VN" sz="1100" b="1">
                <a:effectLst/>
                <a:latin typeface="#9Slide02 Noi dung rat dai" panose="02000000000000000000" pitchFamily="2" charset="0"/>
                <a:ea typeface="#9Slide02 Noi dung rat dai" panose="02000000000000000000" pitchFamily="2" charset="0"/>
              </a:rPr>
              <a:t> trực tiếp</a:t>
            </a:r>
            <a:r>
              <a:rPr lang="vi-VN" sz="1100">
                <a:effectLst/>
                <a:latin typeface="#9Slide02 Noi dung rat dai" panose="02000000000000000000" pitchFamily="2" charset="0"/>
                <a:ea typeface="#9Slide02 Noi dung rat dai" panose="02000000000000000000" pitchFamily="2" charset="0"/>
              </a:rPr>
              <a:t>, thuận chiều đến </a:t>
            </a:r>
            <a:r>
              <a:rPr lang="vi-VN" sz="1100" b="1">
                <a:effectLst/>
                <a:latin typeface="#9Slide02 Noi dung rat dai" panose="02000000000000000000" pitchFamily="2" charset="0"/>
                <a:ea typeface="#9Slide02 Noi dung rat dai" panose="02000000000000000000" pitchFamily="2" charset="0"/>
              </a:rPr>
              <a:t>Ý định mua</a:t>
            </a:r>
            <a:r>
              <a:rPr lang="vi-VN" sz="1100">
                <a:effectLst/>
                <a:latin typeface="#9Slide02 Noi dung rat dai" panose="02000000000000000000" pitchFamily="2" charset="0"/>
                <a:ea typeface="#9Slide02 Noi dung rat dai" panose="02000000000000000000" pitchFamily="2" charset="0"/>
              </a:rPr>
              <a:t>. 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96E34078-72A2-4391-820A-98D9A3F62146}"/>
              </a:ext>
            </a:extLst>
          </p:cNvPr>
          <p:cNvSpPr txBox="1"/>
          <p:nvPr/>
        </p:nvSpPr>
        <p:spPr>
          <a:xfrm>
            <a:off x="6336781" y="6205112"/>
            <a:ext cx="101488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>
                <a:latin typeface="#9Slide02 Noi dung rat dai" panose="02000000000000000000" pitchFamily="2" charset="0"/>
                <a:ea typeface="#9Slide02 Noi dung rat dai" panose="02000000000000000000" pitchFamily="2" charset="0"/>
              </a:rPr>
              <a:t>Sự h</a:t>
            </a:r>
            <a:r>
              <a:rPr lang="vi-VN" sz="1100">
                <a:effectLst/>
                <a:latin typeface="#9Slide02 Noi dung rat dai" panose="02000000000000000000" pitchFamily="2" charset="0"/>
                <a:ea typeface="#9Slide02 Noi dung rat dai" panose="02000000000000000000" pitchFamily="2" charset="0"/>
              </a:rPr>
              <a:t>oài nghi </a:t>
            </a:r>
            <a:r>
              <a:rPr lang="vi-VN" sz="1100" b="1">
                <a:effectLst/>
                <a:latin typeface="#9Slide02 Noi dung rat dai" panose="02000000000000000000" pitchFamily="2" charset="0"/>
                <a:ea typeface="#9Slide02 Noi dung rat dai" panose="02000000000000000000" pitchFamily="2" charset="0"/>
              </a:rPr>
              <a:t>KHÔNG</a:t>
            </a:r>
            <a:r>
              <a:rPr lang="vi-VN" sz="1100">
                <a:effectLst/>
                <a:latin typeface="#9Slide02 Noi dung rat dai" panose="02000000000000000000" pitchFamily="2" charset="0"/>
                <a:ea typeface="#9Slide02 Noi dung rat dai" panose="02000000000000000000" pitchFamily="2" charset="0"/>
              </a:rPr>
              <a:t> cản trở trực tiếp ý định mua. 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1BAB18AE-2ED4-AFD9-3D8E-1419EBAE5FCB}"/>
              </a:ext>
            </a:extLst>
          </p:cNvPr>
          <p:cNvSpPr txBox="1"/>
          <p:nvPr/>
        </p:nvSpPr>
        <p:spPr>
          <a:xfrm>
            <a:off x="7436713" y="6069888"/>
            <a:ext cx="97280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1100">
                <a:effectLst/>
                <a:latin typeface="#9Slide02 Noi dung rat dai" panose="02000000000000000000" pitchFamily="2" charset="0"/>
                <a:ea typeface="#9Slide02 Noi dung rat dai" panose="02000000000000000000" pitchFamily="2" charset="0"/>
              </a:rPr>
              <a:t>PK hoạt động </a:t>
            </a:r>
            <a:r>
              <a:rPr lang="vi-VN" sz="1100" b="1">
                <a:effectLst/>
                <a:latin typeface="#9Slide02 Noi dung rat dai" panose="02000000000000000000" pitchFamily="2" charset="0"/>
                <a:ea typeface="#9Slide02 Noi dung rat dai" panose="02000000000000000000" pitchFamily="2" charset="0"/>
              </a:rPr>
              <a:t>độc lập và mạnh mẽ</a:t>
            </a:r>
            <a:r>
              <a:rPr lang="en-US" sz="1100" b="1">
                <a:latin typeface="#9Slide02 Noi dung rat dai" panose="02000000000000000000" pitchFamily="2" charset="0"/>
                <a:ea typeface="#9Slide02 Noi dung rat dai" panose="02000000000000000000" pitchFamily="2" charset="0"/>
              </a:rPr>
              <a:t> </a:t>
            </a:r>
            <a:r>
              <a:rPr lang="en-US" sz="1100">
                <a:latin typeface="#9Slide02 Noi dung rat dai" panose="02000000000000000000" pitchFamily="2" charset="0"/>
                <a:ea typeface="#9Slide02 Noi dung rat dai" panose="02000000000000000000" pitchFamily="2" charset="0"/>
              </a:rPr>
              <a:t>trước </a:t>
            </a:r>
            <a:r>
              <a:rPr lang="en-US" sz="1100" b="1">
                <a:latin typeface="#9Slide02 Noi dung rat dai" panose="02000000000000000000" pitchFamily="2" charset="0"/>
                <a:ea typeface="#9Slide02 Noi dung rat dai" panose="02000000000000000000" pitchFamily="2" charset="0"/>
              </a:rPr>
              <a:t>sự điều tiết CI.</a:t>
            </a:r>
            <a:endParaRPr lang="vi-VN" sz="1100">
              <a:effectLst/>
              <a:latin typeface="#9Slide02 Noi dung rat dai" panose="02000000000000000000" pitchFamily="2" charset="0"/>
              <a:ea typeface="#9Slide02 Noi dung rat dai" panose="02000000000000000000" pitchFamily="2" charset="0"/>
            </a:endParaRP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19EA1772-A0FA-A4AD-4AE6-44CBB5FF2484}"/>
              </a:ext>
            </a:extLst>
          </p:cNvPr>
          <p:cNvGrpSpPr/>
          <p:nvPr/>
        </p:nvGrpSpPr>
        <p:grpSpPr>
          <a:xfrm>
            <a:off x="4081945" y="5644907"/>
            <a:ext cx="4397043" cy="1490862"/>
            <a:chOff x="4081945" y="5644907"/>
            <a:chExt cx="4397043" cy="1490862"/>
          </a:xfrm>
        </p:grpSpPr>
        <p:sp>
          <p:nvSpPr>
            <p:cNvPr id="152" name="Rectangle: Rounded Corners 151">
              <a:extLst>
                <a:ext uri="{FF2B5EF4-FFF2-40B4-BE49-F238E27FC236}">
                  <a16:creationId xmlns:a16="http://schemas.microsoft.com/office/drawing/2014/main" id="{5F428A5D-3D35-EB86-8CA3-EB520DD73DED}"/>
                </a:ext>
              </a:extLst>
            </p:cNvPr>
            <p:cNvSpPr/>
            <p:nvPr/>
          </p:nvSpPr>
          <p:spPr>
            <a:xfrm>
              <a:off x="4081945" y="5950601"/>
              <a:ext cx="1073013" cy="1185168"/>
            </a:xfrm>
            <a:prstGeom prst="round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Rectangle: Rounded Corners 152">
              <a:extLst>
                <a:ext uri="{FF2B5EF4-FFF2-40B4-BE49-F238E27FC236}">
                  <a16:creationId xmlns:a16="http://schemas.microsoft.com/office/drawing/2014/main" id="{CE874D4C-206D-C727-CE8A-DC39ABAAC2E6}"/>
                </a:ext>
              </a:extLst>
            </p:cNvPr>
            <p:cNvSpPr/>
            <p:nvPr/>
          </p:nvSpPr>
          <p:spPr>
            <a:xfrm>
              <a:off x="5189956" y="5950601"/>
              <a:ext cx="1073012" cy="1185168"/>
            </a:xfrm>
            <a:prstGeom prst="round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Rectangle: Rounded Corners 157">
              <a:extLst>
                <a:ext uri="{FF2B5EF4-FFF2-40B4-BE49-F238E27FC236}">
                  <a16:creationId xmlns:a16="http://schemas.microsoft.com/office/drawing/2014/main" id="{C1D6156C-1BDB-9507-5A83-9063248B60C9}"/>
                </a:ext>
              </a:extLst>
            </p:cNvPr>
            <p:cNvSpPr/>
            <p:nvPr/>
          </p:nvSpPr>
          <p:spPr>
            <a:xfrm>
              <a:off x="6297966" y="5950601"/>
              <a:ext cx="1073013" cy="1185168"/>
            </a:xfrm>
            <a:prstGeom prst="round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ectangle: Rounded Corners 158">
              <a:extLst>
                <a:ext uri="{FF2B5EF4-FFF2-40B4-BE49-F238E27FC236}">
                  <a16:creationId xmlns:a16="http://schemas.microsoft.com/office/drawing/2014/main" id="{AB3AAA62-6FCE-1474-4C2E-9B8D20858C48}"/>
                </a:ext>
              </a:extLst>
            </p:cNvPr>
            <p:cNvSpPr/>
            <p:nvPr/>
          </p:nvSpPr>
          <p:spPr>
            <a:xfrm>
              <a:off x="7405976" y="5950601"/>
              <a:ext cx="1073012" cy="1185168"/>
            </a:xfrm>
            <a:prstGeom prst="round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6" name="Picture 165">
              <a:extLst>
                <a:ext uri="{FF2B5EF4-FFF2-40B4-BE49-F238E27FC236}">
                  <a16:creationId xmlns:a16="http://schemas.microsoft.com/office/drawing/2014/main" id="{DAD4A17D-CD93-E6F4-EB38-16880C05FA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4367293" y="5648051"/>
              <a:ext cx="457162" cy="415450"/>
            </a:xfrm>
            <a:prstGeom prst="rect">
              <a:avLst/>
            </a:prstGeom>
          </p:spPr>
        </p:pic>
        <p:pic>
          <p:nvPicPr>
            <p:cNvPr id="167" name="Picture 166">
              <a:extLst>
                <a:ext uri="{FF2B5EF4-FFF2-40B4-BE49-F238E27FC236}">
                  <a16:creationId xmlns:a16="http://schemas.microsoft.com/office/drawing/2014/main" id="{BE6C61D6-DBD2-676B-0B01-C4811B039A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5520014" y="5644907"/>
              <a:ext cx="502211" cy="415450"/>
            </a:xfrm>
            <a:prstGeom prst="rect">
              <a:avLst/>
            </a:prstGeom>
          </p:spPr>
        </p:pic>
        <p:pic>
          <p:nvPicPr>
            <p:cNvPr id="168" name="Picture 167">
              <a:extLst>
                <a:ext uri="{FF2B5EF4-FFF2-40B4-BE49-F238E27FC236}">
                  <a16:creationId xmlns:a16="http://schemas.microsoft.com/office/drawing/2014/main" id="{E234CDB3-F406-9306-19DF-66507AE935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6661428" y="5680101"/>
              <a:ext cx="442145" cy="415450"/>
            </a:xfrm>
            <a:prstGeom prst="rect">
              <a:avLst/>
            </a:prstGeom>
          </p:spPr>
        </p:pic>
        <p:pic>
          <p:nvPicPr>
            <p:cNvPr id="169" name="Picture 168">
              <a:extLst>
                <a:ext uri="{FF2B5EF4-FFF2-40B4-BE49-F238E27FC236}">
                  <a16:creationId xmlns:a16="http://schemas.microsoft.com/office/drawing/2014/main" id="{B510A4C2-C074-49B4-5C47-786B3FD2B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7741146" y="5648051"/>
              <a:ext cx="417119" cy="415450"/>
            </a:xfrm>
            <a:prstGeom prst="rect">
              <a:avLst/>
            </a:prstGeom>
          </p:spPr>
        </p:pic>
      </p:grpSp>
      <p:sp>
        <p:nvSpPr>
          <p:cNvPr id="205" name="TextBox 204">
            <a:extLst>
              <a:ext uri="{FF2B5EF4-FFF2-40B4-BE49-F238E27FC236}">
                <a16:creationId xmlns:a16="http://schemas.microsoft.com/office/drawing/2014/main" id="{554FAA18-FDAE-58FC-D79B-85225460EF72}"/>
              </a:ext>
            </a:extLst>
          </p:cNvPr>
          <p:cNvSpPr txBox="1"/>
          <p:nvPr/>
        </p:nvSpPr>
        <p:spPr>
          <a:xfrm rot="1353218">
            <a:off x="4963777" y="3635891"/>
            <a:ext cx="59984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b="1">
                <a:latin typeface="#9Slide02 Noi dung rat dai" panose="02000000000000000000" pitchFamily="2" charset="0"/>
                <a:ea typeface="#9Slide02 Noi dung rat dai" panose="02000000000000000000" pitchFamily="2" charset="0"/>
              </a:rPr>
              <a:t>0.351 (0.000)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1011B6B7-A2F2-ED5D-0AF9-C955D26D6876}"/>
              </a:ext>
            </a:extLst>
          </p:cNvPr>
          <p:cNvSpPr txBox="1"/>
          <p:nvPr/>
        </p:nvSpPr>
        <p:spPr>
          <a:xfrm rot="3055457">
            <a:off x="4820554" y="3820154"/>
            <a:ext cx="59984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b="1">
                <a:latin typeface="#9Slide02 Noi dung rat dai" panose="02000000000000000000" pitchFamily="2" charset="0"/>
                <a:ea typeface="#9Slide02 Noi dung rat dai" panose="02000000000000000000" pitchFamily="2" charset="0"/>
              </a:rPr>
              <a:t>0.171 (0.000)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4554C471-625A-664D-4366-F65090392197}"/>
              </a:ext>
            </a:extLst>
          </p:cNvPr>
          <p:cNvSpPr txBox="1"/>
          <p:nvPr/>
        </p:nvSpPr>
        <p:spPr>
          <a:xfrm rot="20679013">
            <a:off x="4786588" y="4172758"/>
            <a:ext cx="56137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b="1">
                <a:latin typeface="#9Slide02 Noi dung rat dai" panose="02000000000000000000" pitchFamily="2" charset="0"/>
                <a:ea typeface="#9Slide02 Noi dung rat dai" panose="02000000000000000000" pitchFamily="2" charset="0"/>
              </a:rPr>
              <a:t>0.05 (0.923)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BD3C8621-E8CD-BCA2-73F7-B11CC22A76D3}"/>
              </a:ext>
            </a:extLst>
          </p:cNvPr>
          <p:cNvSpPr txBox="1"/>
          <p:nvPr/>
        </p:nvSpPr>
        <p:spPr>
          <a:xfrm rot="1834273">
            <a:off x="4692801" y="4382569"/>
            <a:ext cx="59984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b="1">
                <a:latin typeface="#9Slide02 Noi dung rat dai" panose="02000000000000000000" pitchFamily="2" charset="0"/>
                <a:ea typeface="#9Slide02 Noi dung rat dai" panose="02000000000000000000" pitchFamily="2" charset="0"/>
              </a:rPr>
              <a:t>0.456 (0.000)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68289FAD-3087-E9FB-D57C-77D81B76DFAA}"/>
              </a:ext>
            </a:extLst>
          </p:cNvPr>
          <p:cNvSpPr txBox="1"/>
          <p:nvPr/>
        </p:nvSpPr>
        <p:spPr>
          <a:xfrm rot="18883372">
            <a:off x="4778304" y="4686161"/>
            <a:ext cx="59984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b="1">
                <a:latin typeface="#9Slide02 Noi dung rat dai" panose="02000000000000000000" pitchFamily="2" charset="0"/>
                <a:ea typeface="#9Slide02 Noi dung rat dai" panose="02000000000000000000" pitchFamily="2" charset="0"/>
              </a:rPr>
              <a:t>0.399 (0.000)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EA2FE36A-E935-95D3-21B9-F6FA17F07B9C}"/>
              </a:ext>
            </a:extLst>
          </p:cNvPr>
          <p:cNvSpPr txBox="1"/>
          <p:nvPr/>
        </p:nvSpPr>
        <p:spPr>
          <a:xfrm rot="21107286">
            <a:off x="4975438" y="4866116"/>
            <a:ext cx="61908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b="1">
                <a:latin typeface="#9Slide02 Noi dung rat dai" panose="02000000000000000000" pitchFamily="2" charset="0"/>
                <a:ea typeface="#9Slide02 Noi dung rat dai" panose="02000000000000000000" pitchFamily="2" charset="0"/>
              </a:rPr>
              <a:t>-0.198 (0.000)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0007B8D3-9532-A37A-73E7-FD926E01852E}"/>
              </a:ext>
            </a:extLst>
          </p:cNvPr>
          <p:cNvSpPr txBox="1"/>
          <p:nvPr/>
        </p:nvSpPr>
        <p:spPr>
          <a:xfrm rot="18938221">
            <a:off x="7025933" y="4426244"/>
            <a:ext cx="59984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b="1">
                <a:latin typeface="#9Slide02 Noi dung rat dai" panose="02000000000000000000" pitchFamily="2" charset="0"/>
                <a:ea typeface="#9Slide02 Noi dung rat dai" panose="02000000000000000000" pitchFamily="2" charset="0"/>
              </a:rPr>
              <a:t>0.043 (0.408)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0118B977-D8E0-76CE-680D-BFD5D9E6A6EC}"/>
              </a:ext>
            </a:extLst>
          </p:cNvPr>
          <p:cNvSpPr txBox="1"/>
          <p:nvPr/>
        </p:nvSpPr>
        <p:spPr>
          <a:xfrm rot="1091942">
            <a:off x="7060710" y="4079722"/>
            <a:ext cx="59984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b="1">
                <a:latin typeface="#9Slide02 Noi dung rat dai" panose="02000000000000000000" pitchFamily="2" charset="0"/>
                <a:ea typeface="#9Slide02 Noi dung rat dai" panose="02000000000000000000" pitchFamily="2" charset="0"/>
              </a:rPr>
              <a:t>0.111 (0.005)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5757FDD5-BD1F-6FF9-BFC3-3F57ADBD49B8}"/>
              </a:ext>
            </a:extLst>
          </p:cNvPr>
          <p:cNvSpPr txBox="1"/>
          <p:nvPr/>
        </p:nvSpPr>
        <p:spPr>
          <a:xfrm rot="16960982">
            <a:off x="7083652" y="3702100"/>
            <a:ext cx="59984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>
                <a:latin typeface="#9Slide02 Noi dung rat dai" panose="02000000000000000000" pitchFamily="2" charset="0"/>
                <a:ea typeface="#9Slide02 Noi dung rat dai" panose="02000000000000000000" pitchFamily="2" charset="0"/>
              </a:rPr>
              <a:t>0.033 (0.373)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FD6D06A8-1673-DFA2-A5A5-96E5B21380E5}"/>
              </a:ext>
            </a:extLst>
          </p:cNvPr>
          <p:cNvSpPr txBox="1"/>
          <p:nvPr/>
        </p:nvSpPr>
        <p:spPr>
          <a:xfrm>
            <a:off x="7772400" y="4482647"/>
            <a:ext cx="8851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chemeClr val="accent6">
                    <a:lumMod val="75000"/>
                  </a:schemeClr>
                </a:solidFill>
                <a:latin typeface="#9Slide01 Tieu de ngan" panose="00000800000000000000" pitchFamily="2" charset="0"/>
              </a:rPr>
              <a:t>R</a:t>
            </a:r>
            <a:r>
              <a:rPr lang="en-US" sz="1200" baseline="30000">
                <a:solidFill>
                  <a:schemeClr val="accent6">
                    <a:lumMod val="75000"/>
                  </a:schemeClr>
                </a:solidFill>
                <a:latin typeface="#9Slide01 Tieu de ngan" panose="00000800000000000000" pitchFamily="2" charset="0"/>
              </a:rPr>
              <a:t>2</a:t>
            </a:r>
            <a:r>
              <a:rPr lang="en-US" sz="1200">
                <a:solidFill>
                  <a:schemeClr val="accent6">
                    <a:lumMod val="75000"/>
                  </a:schemeClr>
                </a:solidFill>
                <a:latin typeface="#9Slide01 Tieu de ngan" panose="00000800000000000000" pitchFamily="2" charset="0"/>
              </a:rPr>
              <a:t>=0.343</a:t>
            </a:r>
            <a:endParaRPr lang="en-US" sz="1200" baseline="30000">
              <a:solidFill>
                <a:schemeClr val="accent6">
                  <a:lumMod val="75000"/>
                </a:schemeClr>
              </a:solidFill>
              <a:latin typeface="#9Slide01 Tieu de ngan" panose="00000800000000000000" pitchFamily="2" charset="0"/>
            </a:endParaRPr>
          </a:p>
        </p:txBody>
      </p:sp>
      <p:pic>
        <p:nvPicPr>
          <p:cNvPr id="222" name="Graphic 221" descr="Four Leaf Clover with solid fill">
            <a:extLst>
              <a:ext uri="{FF2B5EF4-FFF2-40B4-BE49-F238E27FC236}">
                <a16:creationId xmlns:a16="http://schemas.microsoft.com/office/drawing/2014/main" id="{0BA89222-1C30-779B-9E4D-5F737E8C15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38"/>
              </a:ext>
            </a:extLst>
          </a:blip>
          <a:stretch>
            <a:fillRect/>
          </a:stretch>
        </p:blipFill>
        <p:spPr>
          <a:xfrm rot="20673163" flipH="1">
            <a:off x="8114540" y="11133365"/>
            <a:ext cx="348503" cy="348503"/>
          </a:xfrm>
          <a:prstGeom prst="rect">
            <a:avLst/>
          </a:prstGeom>
        </p:spPr>
      </p:pic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3724FEFD-0703-3BE2-59A5-2772D172F95A}"/>
              </a:ext>
            </a:extLst>
          </p:cNvPr>
          <p:cNvSpPr/>
          <p:nvPr/>
        </p:nvSpPr>
        <p:spPr>
          <a:xfrm>
            <a:off x="4030181" y="9223888"/>
            <a:ext cx="4558347" cy="1652296"/>
          </a:xfrm>
          <a:prstGeom prst="roundRect">
            <a:avLst>
              <a:gd name="adj" fmla="val 10231"/>
            </a:avLst>
          </a:prstGeom>
          <a:solidFill>
            <a:schemeClr val="accent6">
              <a:lumMod val="20000"/>
              <a:lumOff val="80000"/>
              <a:alpha val="95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vi-VN" sz="1000">
              <a:solidFill>
                <a:sysClr val="windowText" lastClr="000000"/>
              </a:solidFill>
              <a:latin typeface="#9Slide02 Noi dung rat dai" panose="02000000000000000000" pitchFamily="2" charset="0"/>
              <a:ea typeface="#9Slide02 Noi dung rat dai" panose="02000000000000000000" pitchFamily="2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D50A71E6-C732-F834-C687-687E72476682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5164324" y="9054831"/>
            <a:ext cx="3428234" cy="2364627"/>
          </a:xfrm>
          <a:prstGeom prst="rect">
            <a:avLst/>
          </a:prstGeom>
        </p:spPr>
      </p:pic>
      <p:grpSp>
        <p:nvGrpSpPr>
          <p:cNvPr id="97" name="Group 96">
            <a:extLst>
              <a:ext uri="{FF2B5EF4-FFF2-40B4-BE49-F238E27FC236}">
                <a16:creationId xmlns:a16="http://schemas.microsoft.com/office/drawing/2014/main" id="{4B96A0E0-EE30-E356-F077-47FF866C8981}"/>
              </a:ext>
            </a:extLst>
          </p:cNvPr>
          <p:cNvGrpSpPr/>
          <p:nvPr/>
        </p:nvGrpSpPr>
        <p:grpSpPr>
          <a:xfrm>
            <a:off x="4204632" y="9419893"/>
            <a:ext cx="4260905" cy="1190496"/>
            <a:chOff x="4236383" y="8484568"/>
            <a:chExt cx="4260905" cy="1190496"/>
          </a:xfrm>
        </p:grpSpPr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20178BBF-7C16-C10F-206B-1CAF80EC0254}"/>
                </a:ext>
              </a:extLst>
            </p:cNvPr>
            <p:cNvSpPr txBox="1"/>
            <p:nvPr/>
          </p:nvSpPr>
          <p:spPr>
            <a:xfrm>
              <a:off x="4499167" y="8815883"/>
              <a:ext cx="96776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latin typeface="#9Slide02 Noi dung rat dai" panose="02000000000000000000" pitchFamily="2" charset="0"/>
                  <a:ea typeface="#9Slide02 Noi dung rat dai" panose="02000000000000000000" pitchFamily="2" charset="0"/>
                </a:rPr>
                <a:t>Hóa giải sự hoài nghi bằng minh chứng thực tế.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0FB60A13-9F9E-D699-7531-823068C48C2C}"/>
                </a:ext>
              </a:extLst>
            </p:cNvPr>
            <p:cNvSpPr txBox="1"/>
            <p:nvPr/>
          </p:nvSpPr>
          <p:spPr>
            <a:xfrm>
              <a:off x="5863073" y="8764941"/>
              <a:ext cx="1049548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1"/>
                  </a:solidFill>
                  <a:latin typeface="#9Slide02 Noi dung rat dai" panose="02000000000000000000" pitchFamily="2" charset="0"/>
                  <a:ea typeface="#9Slide02 Noi dung rat dai" panose="02000000000000000000" pitchFamily="2" charset="0"/>
                </a:rPr>
                <a:t>Trang bị kiến thức để tự tin trước thuật toán, đánh giá nhãn mác sản phẩm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876674EC-52C0-504C-E4B1-1DE9131C9850}"/>
                </a:ext>
              </a:extLst>
            </p:cNvPr>
            <p:cNvSpPr txBox="1"/>
            <p:nvPr/>
          </p:nvSpPr>
          <p:spPr>
            <a:xfrm>
              <a:off x="7338503" y="8815616"/>
              <a:ext cx="115878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1"/>
                  </a:solidFill>
                  <a:latin typeface="#9Slide02 Noi dung rat dai" panose="02000000000000000000" pitchFamily="2" charset="0"/>
                  <a:ea typeface="#9Slide02 Noi dung rat dai" panose="02000000000000000000" pitchFamily="2" charset="0"/>
                </a:rPr>
                <a:t>S</a:t>
              </a:r>
              <a:r>
                <a:rPr lang="vi-VN" sz="1000">
                  <a:solidFill>
                    <a:schemeClr val="bg1"/>
                  </a:solidFill>
                  <a:latin typeface="#9Slide02 Noi dung rat dai" panose="02000000000000000000" pitchFamily="2" charset="0"/>
                  <a:ea typeface="#9Slide02 Noi dung rat dai" panose="02000000000000000000" pitchFamily="2" charset="0"/>
                </a:rPr>
                <a:t>ử dụng thiết kế thực nghiệm hoặc đo lường thêm các yếu tố cảm xúc.</a:t>
              </a:r>
              <a:endParaRPr lang="en-US" sz="1000">
                <a:solidFill>
                  <a:schemeClr val="bg1"/>
                </a:solidFill>
                <a:latin typeface="#9Slide02 Noi dung rat dai" panose="02000000000000000000" pitchFamily="2" charset="0"/>
                <a:ea typeface="#9Slide02 Noi dung rat dai" panose="02000000000000000000" pitchFamily="2" charset="0"/>
              </a:endParaRPr>
            </a:p>
          </p:txBody>
        </p: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C1BFF8DD-8193-A514-4EAA-D35F50E4A3E2}"/>
                </a:ext>
              </a:extLst>
            </p:cNvPr>
            <p:cNvGrpSpPr/>
            <p:nvPr/>
          </p:nvGrpSpPr>
          <p:grpSpPr>
            <a:xfrm>
              <a:off x="4236383" y="8484569"/>
              <a:ext cx="1156913" cy="1190495"/>
              <a:chOff x="4379218" y="8484569"/>
              <a:chExt cx="1156913" cy="1190495"/>
            </a:xfrm>
          </p:grpSpPr>
          <p:sp>
            <p:nvSpPr>
              <p:cNvPr id="87" name="Rectangle: Rounded Corners 86">
                <a:extLst>
                  <a:ext uri="{FF2B5EF4-FFF2-40B4-BE49-F238E27FC236}">
                    <a16:creationId xmlns:a16="http://schemas.microsoft.com/office/drawing/2014/main" id="{B95A0A68-11DA-9252-C63F-DFCE763EDFA4}"/>
                  </a:ext>
                </a:extLst>
              </p:cNvPr>
              <p:cNvSpPr/>
              <p:nvPr/>
            </p:nvSpPr>
            <p:spPr>
              <a:xfrm>
                <a:off x="4392737" y="8631106"/>
                <a:ext cx="1139637" cy="1043958"/>
              </a:xfrm>
              <a:prstGeom prst="roundRect">
                <a:avLst/>
              </a:prstGeom>
              <a:noFill/>
              <a:ln>
                <a:solidFill>
                  <a:schemeClr val="accent6">
                    <a:lumMod val="50000"/>
                  </a:schemeClr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: Rounded Corners 76">
                <a:extLst>
                  <a:ext uri="{FF2B5EF4-FFF2-40B4-BE49-F238E27FC236}">
                    <a16:creationId xmlns:a16="http://schemas.microsoft.com/office/drawing/2014/main" id="{D0BF4F42-6092-15D4-16DF-BB72E17842C0}"/>
                  </a:ext>
                </a:extLst>
              </p:cNvPr>
              <p:cNvSpPr/>
              <p:nvPr/>
            </p:nvSpPr>
            <p:spPr>
              <a:xfrm>
                <a:off x="4379218" y="8484569"/>
                <a:ext cx="1156913" cy="179485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None/>
                </a:pPr>
                <a:r>
                  <a:rPr lang="en-US" sz="1100" b="1">
                    <a:solidFill>
                      <a:schemeClr val="accent6">
                        <a:lumMod val="50000"/>
                      </a:schemeClr>
                    </a:solidFill>
                    <a:latin typeface="#9Slide01 Tieu de ngan" panose="00000800000000000000" pitchFamily="2" charset="0"/>
                  </a:rPr>
                  <a:t>Nhà quản trị</a:t>
                </a:r>
              </a:p>
            </p:txBody>
          </p:sp>
        </p:grp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5FF22C0F-BD29-7880-4EEC-D39028A0E63F}"/>
                </a:ext>
              </a:extLst>
            </p:cNvPr>
            <p:cNvGrpSpPr/>
            <p:nvPr/>
          </p:nvGrpSpPr>
          <p:grpSpPr>
            <a:xfrm>
              <a:off x="5554121" y="8484568"/>
              <a:ext cx="1419805" cy="1190496"/>
              <a:chOff x="5656513" y="8484568"/>
              <a:chExt cx="1419805" cy="1190496"/>
            </a:xfrm>
          </p:grpSpPr>
          <p:sp>
            <p:nvSpPr>
              <p:cNvPr id="80" name="Rectangle: Rounded Corners 79">
                <a:extLst>
                  <a:ext uri="{FF2B5EF4-FFF2-40B4-BE49-F238E27FC236}">
                    <a16:creationId xmlns:a16="http://schemas.microsoft.com/office/drawing/2014/main" id="{DF6628C1-6295-ED88-3A29-EEFCE417882C}"/>
                  </a:ext>
                </a:extLst>
              </p:cNvPr>
              <p:cNvSpPr/>
              <p:nvPr/>
            </p:nvSpPr>
            <p:spPr>
              <a:xfrm>
                <a:off x="5666863" y="8631106"/>
                <a:ext cx="1401448" cy="1043958"/>
              </a:xfrm>
              <a:prstGeom prst="roundRect">
                <a:avLst/>
              </a:prstGeom>
              <a:noFill/>
              <a:ln>
                <a:solidFill>
                  <a:schemeClr val="accent6">
                    <a:lumMod val="50000"/>
                  </a:schemeClr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Rectangle: Rounded Corners 77">
                <a:extLst>
                  <a:ext uri="{FF2B5EF4-FFF2-40B4-BE49-F238E27FC236}">
                    <a16:creationId xmlns:a16="http://schemas.microsoft.com/office/drawing/2014/main" id="{5FA15B22-CF3B-4A21-DAF1-8FFA8C7B3514}"/>
                  </a:ext>
                </a:extLst>
              </p:cNvPr>
              <p:cNvSpPr/>
              <p:nvPr/>
            </p:nvSpPr>
            <p:spPr>
              <a:xfrm>
                <a:off x="5656513" y="8484568"/>
                <a:ext cx="1419805" cy="179485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None/>
                </a:pPr>
                <a:r>
                  <a:rPr lang="en-US" sz="1050" b="1">
                    <a:solidFill>
                      <a:schemeClr val="accent6">
                        <a:lumMod val="50000"/>
                      </a:schemeClr>
                    </a:solidFill>
                    <a:latin typeface="#9Slide01 Tieu de ngan" panose="00000800000000000000" pitchFamily="2" charset="0"/>
                  </a:rPr>
                  <a:t>Người tiêu dùng</a:t>
                </a:r>
              </a:p>
            </p:txBody>
          </p:sp>
        </p:grpSp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6224F2AE-33BF-2E34-C28B-808236FDF7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4349101" y="9063342"/>
              <a:ext cx="179485" cy="179485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C5ECC40A-4112-FD75-3A0B-7A2F9FD4F2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5697290" y="9059810"/>
              <a:ext cx="179485" cy="179485"/>
            </a:xfrm>
            <a:prstGeom prst="rect">
              <a:avLst/>
            </a:prstGeom>
          </p:spPr>
        </p:pic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332A510A-ECAC-3E06-C2CD-A6F231A024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7203931" y="9058695"/>
              <a:ext cx="179485" cy="179485"/>
            </a:xfrm>
            <a:prstGeom prst="rect">
              <a:avLst/>
            </a:prstGeom>
          </p:spPr>
        </p:pic>
      </p:grp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613F847A-A75B-84D1-F006-760AFCF21659}"/>
              </a:ext>
            </a:extLst>
          </p:cNvPr>
          <p:cNvSpPr/>
          <p:nvPr/>
        </p:nvSpPr>
        <p:spPr>
          <a:xfrm>
            <a:off x="7079045" y="9515399"/>
            <a:ext cx="1374377" cy="1043958"/>
          </a:xfrm>
          <a:prstGeom prst="roundRect">
            <a:avLst/>
          </a:prstGeom>
          <a:noFill/>
          <a:ln>
            <a:solidFill>
              <a:schemeClr val="accent6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3C505F79-A261-2DCA-45C4-C7A1235E9E93}"/>
              </a:ext>
            </a:extLst>
          </p:cNvPr>
          <p:cNvSpPr/>
          <p:nvPr/>
        </p:nvSpPr>
        <p:spPr>
          <a:xfrm>
            <a:off x="5334000" y="8911450"/>
            <a:ext cx="1752599" cy="403946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300" b="1">
                <a:latin typeface="#9Slide01 Tieu de ngan" panose="00000800000000000000" pitchFamily="2" charset="0"/>
              </a:rPr>
              <a:t>7</a:t>
            </a:r>
            <a:r>
              <a:rPr lang="vi-VN" sz="1300" b="1">
                <a:latin typeface="#9Slide01 Tieu de ngan" panose="00000800000000000000" pitchFamily="2" charset="0"/>
              </a:rPr>
              <a:t>. </a:t>
            </a:r>
            <a:r>
              <a:rPr lang="en-US" sz="1300" b="1">
                <a:latin typeface="#9Slide01 Tieu de ngan" panose="00000800000000000000" pitchFamily="2" charset="0"/>
              </a:rPr>
              <a:t>Khuyến nghị</a:t>
            </a:r>
            <a:endParaRPr lang="vi-VN" sz="1300">
              <a:latin typeface="#9Slide01 Tieu de ngan" panose="00000800000000000000" pitchFamily="2" charset="0"/>
            </a:endParaRPr>
          </a:p>
        </p:txBody>
      </p: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77E457DD-10DA-4CCB-E2D9-733062A72AFE}"/>
              </a:ext>
            </a:extLst>
          </p:cNvPr>
          <p:cNvGrpSpPr/>
          <p:nvPr/>
        </p:nvGrpSpPr>
        <p:grpSpPr>
          <a:xfrm>
            <a:off x="1343986" y="11044664"/>
            <a:ext cx="6913228" cy="600095"/>
            <a:chOff x="1392572" y="11006420"/>
            <a:chExt cx="6913228" cy="600095"/>
          </a:xfrm>
        </p:grpSpPr>
        <p:sp>
          <p:nvSpPr>
            <p:cNvPr id="173" name="Rectangle: Rounded Corners 172">
              <a:extLst>
                <a:ext uri="{FF2B5EF4-FFF2-40B4-BE49-F238E27FC236}">
                  <a16:creationId xmlns:a16="http://schemas.microsoft.com/office/drawing/2014/main" id="{2606C89E-7427-B643-BDF5-A7A767CA9E53}"/>
                </a:ext>
              </a:extLst>
            </p:cNvPr>
            <p:cNvSpPr/>
            <p:nvPr/>
          </p:nvSpPr>
          <p:spPr>
            <a:xfrm>
              <a:off x="1392572" y="11006420"/>
              <a:ext cx="6913228" cy="435501"/>
            </a:xfrm>
            <a:prstGeom prst="roundRect">
              <a:avLst/>
            </a:prstGeom>
            <a:solidFill>
              <a:srgbClr val="70AD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99" name="Group 198">
              <a:extLst>
                <a:ext uri="{FF2B5EF4-FFF2-40B4-BE49-F238E27FC236}">
                  <a16:creationId xmlns:a16="http://schemas.microsoft.com/office/drawing/2014/main" id="{51C495B4-1BB3-9D45-AD3A-F33142B2C2D4}"/>
                </a:ext>
              </a:extLst>
            </p:cNvPr>
            <p:cNvGrpSpPr/>
            <p:nvPr/>
          </p:nvGrpSpPr>
          <p:grpSpPr>
            <a:xfrm>
              <a:off x="5693381" y="11019444"/>
              <a:ext cx="1551032" cy="400110"/>
              <a:chOff x="5604540" y="11019344"/>
              <a:chExt cx="1551032" cy="400110"/>
            </a:xfrm>
          </p:grpSpPr>
          <p:cxnSp>
            <p:nvCxnSpPr>
              <p:cNvPr id="181" name="Straight Connector 180">
                <a:extLst>
                  <a:ext uri="{FF2B5EF4-FFF2-40B4-BE49-F238E27FC236}">
                    <a16:creationId xmlns:a16="http://schemas.microsoft.com/office/drawing/2014/main" id="{44001986-2AE7-513C-44F5-6EE6711846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04540" y="11104619"/>
                <a:ext cx="0" cy="295317"/>
              </a:xfrm>
              <a:prstGeom prst="line">
                <a:avLst/>
              </a:prstGeom>
              <a:ln w="1270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83" name="Picture 182">
                <a:extLst>
                  <a:ext uri="{FF2B5EF4-FFF2-40B4-BE49-F238E27FC236}">
                    <a16:creationId xmlns:a16="http://schemas.microsoft.com/office/drawing/2014/main" id="{66977452-0748-48FA-F914-D24FB3AF32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0"/>
              <a:srcRect l="28712" r="23424"/>
              <a:stretch>
                <a:fillRect/>
              </a:stretch>
            </p:blipFill>
            <p:spPr>
              <a:xfrm flipH="1">
                <a:off x="5660193" y="11046015"/>
                <a:ext cx="246632" cy="346768"/>
              </a:xfrm>
              <a:prstGeom prst="rect">
                <a:avLst/>
              </a:prstGeom>
            </p:spPr>
          </p:pic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1C73CB66-D359-19C7-6234-B285B70EEBF6}"/>
                  </a:ext>
                </a:extLst>
              </p:cNvPr>
              <p:cNvSpPr txBox="1"/>
              <p:nvPr/>
            </p:nvSpPr>
            <p:spPr>
              <a:xfrm>
                <a:off x="5866004" y="11019344"/>
                <a:ext cx="128956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>
                    <a:latin typeface="#9Slide02 Tieu de rat dai 02" panose="020B0606020202050201" pitchFamily="34" charset="0"/>
                    <a:ea typeface="#9Slide02 Noi dung rat dai" panose="02000000000000000000" pitchFamily="2" charset="0"/>
                  </a:rPr>
                  <a:t>Giảng viên hướng dẫn: </a:t>
                </a:r>
                <a:r>
                  <a:rPr lang="en-US" sz="1000">
                    <a:latin typeface="#9Slide02 Tieu de rat dai 02" panose="020B0606020202050201" pitchFamily="34" charset="0"/>
                    <a:ea typeface="#9Slide02 Noi dung rat dai" panose="02000000000000000000" pitchFamily="2" charset="0"/>
                  </a:rPr>
                  <a:t> </a:t>
                </a:r>
              </a:p>
              <a:p>
                <a:pPr algn="ctr"/>
                <a:r>
                  <a:rPr lang="en-US" sz="1000">
                    <a:latin typeface="#9Slide02 Tieu de rat dai 02" panose="020B0606020202050201" pitchFamily="34" charset="0"/>
                  </a:rPr>
                  <a:t>TS. Nguyễn Thị Mai Anh</a:t>
                </a:r>
              </a:p>
            </p:txBody>
          </p:sp>
        </p:grpSp>
        <p:grpSp>
          <p:nvGrpSpPr>
            <p:cNvPr id="198" name="Group 197">
              <a:extLst>
                <a:ext uri="{FF2B5EF4-FFF2-40B4-BE49-F238E27FC236}">
                  <a16:creationId xmlns:a16="http://schemas.microsoft.com/office/drawing/2014/main" id="{4273D6DF-BDA3-DB07-7C24-5DF6AED300EF}"/>
                </a:ext>
              </a:extLst>
            </p:cNvPr>
            <p:cNvGrpSpPr/>
            <p:nvPr/>
          </p:nvGrpSpPr>
          <p:grpSpPr>
            <a:xfrm>
              <a:off x="1861418" y="11104719"/>
              <a:ext cx="5590291" cy="295317"/>
              <a:chOff x="1861418" y="11104619"/>
              <a:chExt cx="5590291" cy="295317"/>
            </a:xfrm>
          </p:grpSpPr>
          <p:cxnSp>
            <p:nvCxnSpPr>
              <p:cNvPr id="182" name="Straight Connector 181">
                <a:extLst>
                  <a:ext uri="{FF2B5EF4-FFF2-40B4-BE49-F238E27FC236}">
                    <a16:creationId xmlns:a16="http://schemas.microsoft.com/office/drawing/2014/main" id="{AAFAEA16-FA01-612D-4749-86A2AF8E0E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51709" y="11104619"/>
                <a:ext cx="0" cy="295317"/>
              </a:xfrm>
              <a:prstGeom prst="line">
                <a:avLst/>
              </a:prstGeom>
              <a:ln w="1270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CC5A19C4-2D34-9AB5-A23B-24E92849B478}"/>
                  </a:ext>
                </a:extLst>
              </p:cNvPr>
              <p:cNvSpPr txBox="1"/>
              <p:nvPr/>
            </p:nvSpPr>
            <p:spPr>
              <a:xfrm>
                <a:off x="1861418" y="11124277"/>
                <a:ext cx="81271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>
                    <a:latin typeface="#9Slide02 Tieu de rat dai 02" panose="020B0606020202050201" pitchFamily="34" charset="0"/>
                    <a:ea typeface="#9Slide02 Noi dung rat dai" panose="02000000000000000000" pitchFamily="2" charset="0"/>
                  </a:rPr>
                  <a:t>LINK BÁO CÁO</a:t>
                </a:r>
                <a:endParaRPr lang="en-US" sz="1000">
                  <a:latin typeface="#9Slide02 Tieu de rat dai 02" panose="020B0606020202050201" pitchFamily="34" charset="0"/>
                </a:endParaRPr>
              </a:p>
            </p:txBody>
          </p:sp>
        </p:grpSp>
        <p:grpSp>
          <p:nvGrpSpPr>
            <p:cNvPr id="201" name="Group 200">
              <a:extLst>
                <a:ext uri="{FF2B5EF4-FFF2-40B4-BE49-F238E27FC236}">
                  <a16:creationId xmlns:a16="http://schemas.microsoft.com/office/drawing/2014/main" id="{9436866E-D7DA-FB62-6121-9CF08C447206}"/>
                </a:ext>
              </a:extLst>
            </p:cNvPr>
            <p:cNvGrpSpPr/>
            <p:nvPr/>
          </p:nvGrpSpPr>
          <p:grpSpPr>
            <a:xfrm>
              <a:off x="2881424" y="11047284"/>
              <a:ext cx="2586409" cy="559231"/>
              <a:chOff x="2978068" y="11047184"/>
              <a:chExt cx="2586409" cy="559231"/>
            </a:xfrm>
          </p:grpSpPr>
          <p:cxnSp>
            <p:nvCxnSpPr>
              <p:cNvPr id="175" name="Straight Connector 174">
                <a:extLst>
                  <a:ext uri="{FF2B5EF4-FFF2-40B4-BE49-F238E27FC236}">
                    <a16:creationId xmlns:a16="http://schemas.microsoft.com/office/drawing/2014/main" id="{AC527E57-B3CC-A7BC-1FE1-0F4AE1D3C1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8068" y="11112751"/>
                <a:ext cx="0" cy="295317"/>
              </a:xfrm>
              <a:prstGeom prst="line">
                <a:avLst/>
              </a:prstGeom>
              <a:ln w="1270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79" name="Picture 178">
                <a:extLst>
                  <a:ext uri="{FF2B5EF4-FFF2-40B4-BE49-F238E27FC236}">
                    <a16:creationId xmlns:a16="http://schemas.microsoft.com/office/drawing/2014/main" id="{DE91476B-9553-C14F-097D-0319599E1B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1">
                <a:alphaModFix/>
              </a:blip>
              <a:stretch>
                <a:fillRect/>
              </a:stretch>
            </p:blipFill>
            <p:spPr>
              <a:xfrm>
                <a:off x="3012370" y="11064031"/>
                <a:ext cx="374615" cy="392755"/>
              </a:xfrm>
              <a:prstGeom prst="rect">
                <a:avLst/>
              </a:prstGeom>
            </p:spPr>
          </p:pic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592BC11E-28E6-F27F-9A90-0F02B59EAA05}"/>
                  </a:ext>
                </a:extLst>
              </p:cNvPr>
              <p:cNvSpPr txBox="1"/>
              <p:nvPr/>
            </p:nvSpPr>
            <p:spPr>
              <a:xfrm>
                <a:off x="3264129" y="11052417"/>
                <a:ext cx="799590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b="1">
                    <a:latin typeface="#9Slide02 Tieu de rat dai 02" panose="020B0606020202050201" pitchFamily="34" charset="0"/>
                  </a:rPr>
                  <a:t>Nhóm </a:t>
                </a:r>
              </a:p>
              <a:p>
                <a:pPr algn="ctr"/>
                <a:r>
                  <a:rPr lang="en-US" sz="1000" b="1">
                    <a:latin typeface="#9Slide02 Tieu de rat dai 02" panose="020B0606020202050201" pitchFamily="34" charset="0"/>
                  </a:rPr>
                  <a:t>NGHIÊN CỨU</a:t>
                </a:r>
                <a:r>
                  <a:rPr lang="en-US" sz="1000">
                    <a:latin typeface="#9Slide02 Tieu de rat dai 02" panose="020B0606020202050201" pitchFamily="34" charset="0"/>
                  </a:rPr>
                  <a:t/>
                </a:r>
                <a:br>
                  <a:rPr lang="en-US" sz="1000">
                    <a:latin typeface="#9Slide02 Tieu de rat dai 02" panose="020B0606020202050201" pitchFamily="34" charset="0"/>
                  </a:rPr>
                </a:br>
                <a:endParaRPr lang="en-US" sz="1000">
                  <a:latin typeface="#9Slide02 Tieu de rat dai 02" panose="020B0606020202050201" pitchFamily="34" charset="0"/>
                </a:endParaRPr>
              </a:p>
            </p:txBody>
          </p:sp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C4D2C45E-3761-EE4E-AE0E-99DFF7BBA363}"/>
                  </a:ext>
                </a:extLst>
              </p:cNvPr>
              <p:cNvSpPr txBox="1"/>
              <p:nvPr/>
            </p:nvSpPr>
            <p:spPr>
              <a:xfrm>
                <a:off x="4891880" y="11060920"/>
                <a:ext cx="67259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>
                    <a:latin typeface="#9Slide02 Tieu de rat dai 02" panose="020B0606020202050201" pitchFamily="34" charset="0"/>
                  </a:rPr>
                  <a:t>Vũ Duy Kiên</a:t>
                </a:r>
              </a:p>
            </p:txBody>
          </p:sp>
          <p:grpSp>
            <p:nvGrpSpPr>
              <p:cNvPr id="200" name="Group 199">
                <a:extLst>
                  <a:ext uri="{FF2B5EF4-FFF2-40B4-BE49-F238E27FC236}">
                    <a16:creationId xmlns:a16="http://schemas.microsoft.com/office/drawing/2014/main" id="{D78FE7FA-182C-B8C5-7455-4D9276AACEBD}"/>
                  </a:ext>
                </a:extLst>
              </p:cNvPr>
              <p:cNvGrpSpPr/>
              <p:nvPr/>
            </p:nvGrpSpPr>
            <p:grpSpPr>
              <a:xfrm>
                <a:off x="3945920" y="11047184"/>
                <a:ext cx="1152193" cy="379454"/>
                <a:chOff x="3945920" y="11047184"/>
                <a:chExt cx="1152193" cy="379454"/>
              </a:xfrm>
            </p:grpSpPr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66EC1E8E-C1F5-3E01-CAF7-54D47AD06506}"/>
                    </a:ext>
                  </a:extLst>
                </p:cNvPr>
                <p:cNvSpPr txBox="1"/>
                <p:nvPr/>
              </p:nvSpPr>
              <p:spPr>
                <a:xfrm>
                  <a:off x="3945920" y="11047184"/>
                  <a:ext cx="96483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>
                      <a:latin typeface="#9Slide02 Tieu de rat dai 02" panose="020B0606020202050201" pitchFamily="34" charset="0"/>
                    </a:rPr>
                    <a:t>Nguyễn Trung Đức</a:t>
                  </a:r>
                  <a:r>
                    <a:rPr lang="en-US" sz="1000" baseline="30000">
                      <a:latin typeface="#9Slide02 Tieu de rat dai 02" panose="020B0606020202050201" pitchFamily="34" charset="0"/>
                    </a:rPr>
                    <a:t>*</a:t>
                  </a:r>
                  <a:r>
                    <a:rPr lang="en-US" sz="1000">
                      <a:latin typeface="#9Slide02 Tieu de rat dai 02" panose="020B0606020202050201" pitchFamily="34" charset="0"/>
                    </a:rPr>
                    <a:t> </a:t>
                  </a:r>
                </a:p>
              </p:txBody>
            </p:sp>
            <p:sp>
              <p:nvSpPr>
                <p:cNvPr id="192" name="TextBox 191">
                  <a:extLst>
                    <a:ext uri="{FF2B5EF4-FFF2-40B4-BE49-F238E27FC236}">
                      <a16:creationId xmlns:a16="http://schemas.microsoft.com/office/drawing/2014/main" id="{CFDBE76E-8539-79D9-0C59-EB8F9A00FAA1}"/>
                    </a:ext>
                  </a:extLst>
                </p:cNvPr>
                <p:cNvSpPr txBox="1"/>
                <p:nvPr/>
              </p:nvSpPr>
              <p:spPr>
                <a:xfrm>
                  <a:off x="3945920" y="11241972"/>
                  <a:ext cx="1152193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600">
                      <a:latin typeface="#9Slide02 Tieu de rat dai 02" panose="020B0606020202050201" pitchFamily="34" charset="0"/>
                      <a:ea typeface="#9Slide02 Noi dung rat dai" panose="02000000000000000000" pitchFamily="2" charset="0"/>
                    </a:rPr>
                    <a:t>duc.nt223119@sis.hust.edu.vn</a:t>
                  </a:r>
                  <a:r>
                    <a:rPr lang="en-US" sz="600">
                      <a:latin typeface="#9Slide02 Tieu de rat dai 02" panose="020B0606020202050201" pitchFamily="34" charset="0"/>
                    </a:rPr>
                    <a:t> </a:t>
                  </a:r>
                </a:p>
              </p:txBody>
            </p:sp>
          </p:grpSp>
        </p:grpSp>
        <p:pic>
          <p:nvPicPr>
            <p:cNvPr id="219" name="Picture 218">
              <a:extLst>
                <a:ext uri="{FF2B5EF4-FFF2-40B4-BE49-F238E27FC236}">
                  <a16:creationId xmlns:a16="http://schemas.microsoft.com/office/drawing/2014/main" id="{DE9DD585-B0EC-131D-1C53-235419FF00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1575364" y="11047223"/>
              <a:ext cx="394236" cy="356315"/>
            </a:xfrm>
            <a:prstGeom prst="rect">
              <a:avLst/>
            </a:prstGeom>
          </p:spPr>
        </p:pic>
      </p:grpSp>
      <p:pic>
        <p:nvPicPr>
          <p:cNvPr id="101" name="Picture 100">
            <a:extLst>
              <a:ext uri="{FF2B5EF4-FFF2-40B4-BE49-F238E27FC236}">
                <a16:creationId xmlns:a16="http://schemas.microsoft.com/office/drawing/2014/main" id="{3CCBEF0A-E6D8-BDA8-5608-CE8920CF5B93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161077" y="10471286"/>
            <a:ext cx="1098492" cy="1019292"/>
          </a:xfrm>
          <a:prstGeom prst="rect">
            <a:avLst/>
          </a:prstGeom>
        </p:spPr>
      </p:pic>
      <p:sp>
        <p:nvSpPr>
          <p:cNvPr id="104" name="TextBox 103">
            <a:extLst>
              <a:ext uri="{FF2B5EF4-FFF2-40B4-BE49-F238E27FC236}">
                <a16:creationId xmlns:a16="http://schemas.microsoft.com/office/drawing/2014/main" id="{74675CD4-7C6B-9EE2-90A3-89F30082E9D8}"/>
              </a:ext>
            </a:extLst>
          </p:cNvPr>
          <p:cNvSpPr txBox="1"/>
          <p:nvPr/>
        </p:nvSpPr>
        <p:spPr>
          <a:xfrm>
            <a:off x="7385533" y="11162123"/>
            <a:ext cx="81271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#9Slide02 Tieu de rat dai 02" panose="020B0606020202050201" pitchFamily="34" charset="0"/>
                <a:ea typeface="#9Slide02 Noi dung rat dai" panose="02000000000000000000" pitchFamily="2" charset="0"/>
              </a:rPr>
              <a:t>TRƯỜNG KINH TẾ</a:t>
            </a:r>
            <a:endParaRPr lang="en-US" sz="1000">
              <a:latin typeface="#9Slide02 Tieu de rat dai 02" panose="020B0606020202050201" pitchFamily="34" charset="0"/>
            </a:endParaRPr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84613A7D-C546-885B-474A-1DEE44A694B6}"/>
              </a:ext>
            </a:extLst>
          </p:cNvPr>
          <p:cNvSpPr/>
          <p:nvPr/>
        </p:nvSpPr>
        <p:spPr>
          <a:xfrm>
            <a:off x="7065526" y="9414694"/>
            <a:ext cx="1389497" cy="17948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050" b="1">
                <a:solidFill>
                  <a:schemeClr val="accent6">
                    <a:lumMod val="50000"/>
                  </a:schemeClr>
                </a:solidFill>
                <a:latin typeface="#9Slide01 Tieu de ngan" panose="00000800000000000000" pitchFamily="2" charset="0"/>
              </a:rPr>
              <a:t>Nhà nghiên cứu</a:t>
            </a:r>
          </a:p>
        </p:txBody>
      </p:sp>
    </p:spTree>
    <p:extLst>
      <p:ext uri="{BB962C8B-B14F-4D97-AF65-F5344CB8AC3E}">
        <p14:creationId xmlns:p14="http://schemas.microsoft.com/office/powerpoint/2010/main" val="2769381315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601200" cy="12801600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A0104B2B-BEC1-74F1-A639-6FD55635DE9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lum bright="-8000"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22" y="-71120"/>
            <a:ext cx="9074556" cy="128727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772482" y="1981200"/>
            <a:ext cx="1005483" cy="3464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accent1">
                    <a:lumMod val="50000"/>
                  </a:schemeClr>
                </a:solidFill>
                <a:latin typeface="#9Slide01 Tieu de ngan" panose="00000800000000000000" pitchFamily="2" charset="0"/>
              </a:rPr>
              <a:t>S.24.16</a:t>
            </a:r>
          </a:p>
        </p:txBody>
      </p:sp>
      <p:sp>
        <p:nvSpPr>
          <p:cNvPr id="8" name="Rectangle 7"/>
          <p:cNvSpPr/>
          <p:nvPr/>
        </p:nvSpPr>
        <p:spPr>
          <a:xfrm>
            <a:off x="3541213" y="1561821"/>
            <a:ext cx="532907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>
                <a:blipFill>
                  <a:blip r:embed="rId4"/>
                  <a:tile tx="0" ty="0" sx="100000" sy="100000" flip="none" algn="tl"/>
                </a:blipFill>
                <a:latin typeface="#9Slide01 Tieu de ngan" panose="000008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QUẢNG CÁO XANH</a:t>
            </a:r>
            <a:r>
              <a:rPr lang="en-US" sz="1600">
                <a:blipFill>
                  <a:blip r:embed="rId4"/>
                  <a:tile tx="0" ty="0" sx="100000" sy="100000" flip="none" algn="tl"/>
                </a:blipFill>
                <a:latin typeface="#9Slide01 Tieu de ngan" panose="000008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>
                <a:solidFill>
                  <a:srgbClr val="002060"/>
                </a:solidFill>
                <a:latin typeface="#9Slide01 Tieu de ngan" panose="000008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 Ý ĐỊNH MUA: </a:t>
            </a:r>
            <a:br>
              <a:rPr lang="en-US" sz="1800">
                <a:solidFill>
                  <a:srgbClr val="002060"/>
                </a:solidFill>
                <a:latin typeface="#9Slide01 Tieu de ngan" panose="000008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>
                <a:solidFill>
                  <a:srgbClr val="002060"/>
                </a:solidFill>
                <a:latin typeface="#9Slide01 Tieu de ngan" panose="000008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VAI TRÒ CỦA NHẬN THỨC, SỰ HOÀI NGHI </a:t>
            </a:r>
            <a:br>
              <a:rPr lang="en-US" sz="1800">
                <a:solidFill>
                  <a:srgbClr val="002060"/>
                </a:solidFill>
                <a:latin typeface="#9Slide01 Tieu de ngan" panose="000008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>
                <a:solidFill>
                  <a:srgbClr val="002060"/>
                </a:solidFill>
                <a:latin typeface="#9Slide01 Tieu de ngan" panose="000008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 THAM GIA CỦA NGƯỜI TIÊU DÙNG</a:t>
            </a:r>
            <a:endParaRPr lang="en-US" sz="1600">
              <a:solidFill>
                <a:srgbClr val="002060"/>
              </a:solidFill>
              <a:latin typeface="#9Slide01 Tieu de ngan" panose="000008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3CCBEF0A-E6D8-BDA8-5608-CE8920CF5B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1077" y="10471286"/>
            <a:ext cx="1098492" cy="1019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251004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344af0a-15ef-48c0-ad9c-13c28cda0b1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A8A11654F5AE346B9BE203DCDE1FACB" ma:contentTypeVersion="5" ma:contentTypeDescription="Create a new document." ma:contentTypeScope="" ma:versionID="efbca6fad53a33264438edd52c9e822d">
  <xsd:schema xmlns:xsd="http://www.w3.org/2001/XMLSchema" xmlns:xs="http://www.w3.org/2001/XMLSchema" xmlns:p="http://schemas.microsoft.com/office/2006/metadata/properties" xmlns:ns3="d344af0a-15ef-48c0-ad9c-13c28cda0b17" targetNamespace="http://schemas.microsoft.com/office/2006/metadata/properties" ma:root="true" ma:fieldsID="9f7c1ee2d9b77f7d8b483c8cb18f3703" ns3:_="">
    <xsd:import namespace="d344af0a-15ef-48c0-ad9c-13c28cda0b1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44af0a-15ef-48c0-ad9c-13c28cda0b1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D5239F5-C615-447F-8F5E-B5ED2410C09C}">
  <ds:schemaRefs>
    <ds:schemaRef ds:uri="http://www.w3.org/XML/1998/namespace"/>
    <ds:schemaRef ds:uri="http://purl.org/dc/elements/1.1/"/>
    <ds:schemaRef ds:uri="d344af0a-15ef-48c0-ad9c-13c28cda0b17"/>
    <ds:schemaRef ds:uri="http://schemas.microsoft.com/office/2006/documentManagement/types"/>
    <ds:schemaRef ds:uri="http://purl.org/dc/terms/"/>
    <ds:schemaRef ds:uri="http://purl.org/dc/dcmitype/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310487FE-14BD-423F-B223-035BCF190F7D}">
  <ds:schemaRefs>
    <ds:schemaRef ds:uri="d344af0a-15ef-48c0-ad9c-13c28cda0b1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710FCBF-BD40-4DF5-95C4-6FD8A41A4FB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9Slide.vn</Template>
  <TotalTime>167</TotalTime>
  <Words>589</Words>
  <Application>Microsoft Office PowerPoint</Application>
  <PresentationFormat>A3 Paper (297x420 mm)</PresentationFormat>
  <Paragraphs>77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#9Slide01 Tieu de ngan</vt:lpstr>
      <vt:lpstr>#9Slide02 Tieu de rat dai 02</vt:lpstr>
      <vt:lpstr>Times New Roman</vt:lpstr>
      <vt:lpstr>Calibri Light</vt:lpstr>
      <vt:lpstr>Calibri</vt:lpstr>
      <vt:lpstr>#9Slide02 Noi dung rat dai</vt:lpstr>
      <vt:lpstr>Office Theme</vt:lpstr>
      <vt:lpstr>PowerPoint Presentation</vt:lpstr>
      <vt:lpstr>PowerPoint Presentation</vt:lpstr>
    </vt:vector>
  </TitlesOfParts>
  <Manager>9Slide.vn</Manager>
  <Company>9Slide.vn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9Slide.vn</dc:subject>
  <dc:creator>Admin</dc:creator>
  <dc:description>9Slide.vn</dc:description>
  <cp:lastModifiedBy>Admin</cp:lastModifiedBy>
  <cp:revision>6</cp:revision>
  <dcterms:created xsi:type="dcterms:W3CDTF">2026-05-09T11:44:13Z</dcterms:created>
  <dcterms:modified xsi:type="dcterms:W3CDTF">2026-05-13T17:22:09Z</dcterms:modified>
  <cp:category>9Slide.vn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0x0101001A8A11654F5AE346B9BE203DCDE1FACB</vt:lpwstr>
  </property>
</Properties>
</file>